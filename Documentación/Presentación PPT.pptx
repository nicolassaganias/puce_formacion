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8F02B9-5CA1-4F53-81AB-5C851557D550}">
  <a:tblStyle styleId="{A08F02B9-5CA1-4F53-81AB-5C851557D5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nvirodiy.org/wide-wide-world-of-diy-and-dit/" TargetMode="External"/><Relationship Id="rId3" Type="http://schemas.openxmlformats.org/officeDocument/2006/relationships/hyperlink" Target="https://forum.openhardware.science/" TargetMode="External"/><Relationship Id="rId4" Type="http://schemas.openxmlformats.org/officeDocument/2006/relationships/hyperlink" Target="https://github.com/" TargetMode="External"/><Relationship Id="rId5" Type="http://schemas.openxmlformats.org/officeDocument/2006/relationships/hyperlink" Target="https://www.youtube.com/watch?v=IFcWZgJzBt0"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prendiendoarduino.wordpress.com/2016/12/18/sensores-y-actuadores/"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rduino.cc/reference/es/"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arduino.cc/built-in-examples/basics/DigitalReadSerial/#circui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gaprofe.es/guia-rapida-de-prompts/" TargetMode="External"/><Relationship Id="rId3" Type="http://schemas.openxmlformats.org/officeDocument/2006/relationships/hyperlink" Target="https://amobasoftware.com/en/blog/post/22/guia-definitiva-para-crear-prompts-efectivos-en-programacion"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uisllamas.es/programacion-que-es-una-variable/"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58826ca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58826ca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58826caa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958826caa1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58826caa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58826caa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999cffb8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c999cffb86_0_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999cffb86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c999cffb86_0_1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f8b6d7120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f8b6d7120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este curso yo quiero ir de lo general a lo particular, desde entender la arquitectura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f8d1fe26a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f8d1fe26a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Vemos la l</a:t>
            </a:r>
            <a:r>
              <a:rPr lang="es"/>
              <a:t>ógica de sistema aplicada a nuestra </a:t>
            </a:r>
            <a:r>
              <a:rPr lang="es"/>
              <a:t>cotidianeidad</a:t>
            </a:r>
            <a:r>
              <a:rPr lang="es"/>
              <a:t> constantemente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999cffb86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999cffb86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Vemos la lógica de sistema aplicada a nuestra cotidianeidad constantemente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f8d1fe26a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f8d1fe26a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Computadora abordo = Arduino. Intro Arduino.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f71c4594d9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f71c4594d9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f71c4594d9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f71c4594d9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parecido al universo arduino:</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f8d1fe26a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f8d1fe26a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entender esto necesitamos ir un poco hacia atr</a:t>
            </a:r>
            <a:r>
              <a:rPr lang="es"/>
              <a:t>ás y entender la electricidad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f8d1fe26a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f8d1fe26a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f8d1fe26a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f8d1fe26a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999cffb86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c999cffb86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999cffb86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999cffb86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Sabiendo esto. Uds que piensan que usa Arduino y la electr</a:t>
            </a:r>
            <a:r>
              <a:rPr lang="es"/>
              <a:t>ónica en general?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999cffb86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999cffb86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f71c4594d9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f71c4594d9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Soft y Hard Libre. Clones. CH340. DIY, DIT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999cffb8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999cffb8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https://www.envirodiy.org/wide-wide-world-of-diy-and-dit/</a:t>
            </a:r>
            <a:r>
              <a:rPr lang="es"/>
              <a:t> </a:t>
            </a:r>
            <a:br>
              <a:rPr lang="es"/>
            </a:br>
            <a:r>
              <a:rPr lang="es" u="sng">
                <a:solidFill>
                  <a:schemeClr val="hlink"/>
                </a:solidFill>
                <a:hlinkClick r:id="rId3"/>
              </a:rPr>
              <a:t>https://forum.openhardware.science/</a:t>
            </a:r>
            <a:br>
              <a:rPr lang="es"/>
            </a:br>
            <a:r>
              <a:rPr lang="es" u="sng">
                <a:solidFill>
                  <a:schemeClr val="hlink"/>
                </a:solidFill>
                <a:hlinkClick r:id="rId4"/>
              </a:rPr>
              <a:t>https://github.com/</a:t>
            </a:r>
            <a:r>
              <a:rPr lang="es"/>
              <a:t> </a:t>
            </a:r>
            <a:r>
              <a:rPr lang="es" u="sng">
                <a:solidFill>
                  <a:schemeClr val="hlink"/>
                </a:solidFill>
                <a:hlinkClick r:id="rId5"/>
              </a:rPr>
              <a:t>https://www.youtube.com/watch?v=IFcWZgJzBt0</a:t>
            </a:r>
            <a:r>
              <a:rPr lang="es"/>
              <a:t> </a:t>
            </a:r>
            <a:br>
              <a:rPr lang="es"/>
            </a:br>
            <a:br>
              <a:rPr lang="es"/>
            </a:br>
            <a:r>
              <a:rPr lang="es"/>
              <a:t>ECOSIA - PROTONMAIL - BRAVE - ANYTYPE - GITHUB/GITLAB</a:t>
            </a:r>
            <a:br>
              <a:rPr lang="es"/>
            </a:br>
            <a:br>
              <a:rPr lang="es"/>
            </a:br>
            <a:br>
              <a:rPr lang="es"/>
            </a:b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999cffb8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c999cffb8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f71c4594d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f71c4594d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f71c4594d9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f71c4594d9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https://aprendiendoarduino.wordpress.com/2016/12/18/sensores-y-actuadores/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999cffb86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999cffb86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f71c4594d9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f71c4594d9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f71c4594d9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f71c4594d9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f71c4594d9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f71c4594d9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f71c4594d9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f71c4594d9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Asi como hacemos DAC. Hablemos de programaci</a:t>
            </a:r>
            <a:r>
              <a:rPr lang="es"/>
              <a:t>ón: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f71c4594d9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f71c4594d9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f9e925bd9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f9e925bd9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 sz="1800" u="sng">
                <a:solidFill>
                  <a:srgbClr val="0097A7"/>
                </a:solidFill>
                <a:highlight>
                  <a:schemeClr val="lt1"/>
                </a:highlight>
                <a:hlinkClick r:id="rId2">
                  <a:extLst>
                    <a:ext uri="{A12FA001-AC4F-418D-AE19-62706E023703}">
                      <ahyp:hlinkClr val="tx"/>
                    </a:ext>
                  </a:extLst>
                </a:hlinkClick>
              </a:rPr>
              <a:t>https://www.arduino.cc/reference/es/</a:t>
            </a:r>
            <a:endParaRPr sz="1800">
              <a:solidFill>
                <a:srgbClr val="202122"/>
              </a:solidFill>
              <a:highlight>
                <a:schemeClr val="lt1"/>
              </a:highlight>
            </a:endParaRPr>
          </a:p>
          <a:p>
            <a:pPr indent="0" lvl="0" marL="0" rtl="0" algn="ctr">
              <a:lnSpc>
                <a:spcPct val="115000"/>
              </a:lnSpc>
              <a:spcBef>
                <a:spcPts val="1200"/>
              </a:spcBef>
              <a:spcAft>
                <a:spcPts val="0"/>
              </a:spcAft>
              <a:buClr>
                <a:schemeClr val="dk1"/>
              </a:buClr>
              <a:buSzPts val="1100"/>
              <a:buFont typeface="Arial"/>
              <a:buNone/>
            </a:pPr>
            <a:r>
              <a:rPr lang="es" sz="1800">
                <a:solidFill>
                  <a:srgbClr val="202122"/>
                </a:solidFill>
                <a:highlight>
                  <a:schemeClr val="lt1"/>
                </a:highlight>
              </a:rPr>
              <a:t>Como interactúa? A través del IDE</a:t>
            </a:r>
            <a:endParaRPr sz="1800">
              <a:solidFill>
                <a:srgbClr val="202122"/>
              </a:solidFill>
              <a:highlight>
                <a:schemeClr val="lt1"/>
              </a:highlight>
            </a:endParaRPr>
          </a:p>
          <a:p>
            <a:pPr indent="0" lvl="0" marL="0" rtl="0" algn="l">
              <a:spcBef>
                <a:spcPts val="12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f71c4594d9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f71c4594d9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f71c4594d9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f71c4594d9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999cffb86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999cffb86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c999cffb86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c999cffb86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999cffb86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999cffb86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999cffb86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c999cffb86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c999cffb86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c999cffb86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c999cffb8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c999cffb8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https://docs.arduino.cc/built-in-examples/basics/DigitalReadSerial/#circuit</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c999cffb86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c999cffb86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c999cffb86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c999cffb86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Despues de que ande, modificarle el comportamiento.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999cffb86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c999cffb86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c999cffb86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c999cffb86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c999cffb8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c999cffb8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c999cffb86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c999cffb86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que prueben cosas con prompts.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c999cffb86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c999cffb86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c999cffb86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c999cffb86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c999cffb86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c999cffb86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c999cffb86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c999cffb86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c999cffb86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c999cffb86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c999cffb86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c999cffb86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c999cffb86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c999cffb86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 EJEMPLO DS3231 en IDE. Pedir a los alumnos que junten LCD + RTC.</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c999cffb86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c999cffb86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 EJEMPLO CardInfo SD y pedir alumnos que lo integren.</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c999cffb8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c999cffb8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c999cffb86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c999cffb86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c999cffb86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c999cffb86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58826caa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958826caa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958826caa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958826caa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c999cffb8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c999cffb8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c999cffb8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c999cffb8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u="sng">
                <a:solidFill>
                  <a:schemeClr val="hlink"/>
                </a:solidFill>
                <a:hlinkClick r:id="rId2"/>
              </a:rPr>
              <a:t>https://megaprofe.es/guia-rapida-de-prompts/</a:t>
            </a:r>
            <a:r>
              <a:rPr lang="e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s" u="sng">
                <a:solidFill>
                  <a:schemeClr val="hlink"/>
                </a:solidFill>
                <a:hlinkClick r:id="rId3"/>
              </a:rPr>
              <a:t>https://amobasoftware.com/en/blog/post/22/guia-definitiva-para-crear-prompts-efectivos-en-programacion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f9e925bd9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f9e925bd9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https://www.luisllamas.es/programacion-que-es-una-variable/</a:t>
            </a:r>
            <a:endParaRPr/>
          </a:p>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f9e925bd9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f9e925bd9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f9e925bd9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f9e925bd9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f9e925bd9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f9e925bd9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3" name="Google Shape;5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linkedin.com/in/nicolas-saganias/" TargetMode="External"/><Relationship Id="rId4" Type="http://schemas.openxmlformats.org/officeDocument/2006/relationships/hyperlink" Target="https://www.upwork.com/freelancers/~01472d619ba9e306d5?viewMode=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s.wikipedia.org/wiki/Sistema" TargetMode="External"/><Relationship Id="rId4" Type="http://schemas.openxmlformats.org/officeDocument/2006/relationships/hyperlink" Target="https://es.wikipedia.org/wiki/Entrada" TargetMode="External"/><Relationship Id="rId5" Type="http://schemas.openxmlformats.org/officeDocument/2006/relationships/hyperlink" Target="https://es.wikipedia.org/wiki/Output" TargetMode="External"/><Relationship Id="rId6" Type="http://schemas.openxmlformats.org/officeDocument/2006/relationships/hyperlink" Target="https://es.wikipedia.org/wiki/Sistema_tecnol%C3%B3gico" TargetMode="External"/><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es.wikipedia.org/wiki/%C3%81mbar" TargetMode="External"/><Relationship Id="rId4" Type="http://schemas.openxmlformats.org/officeDocument/2006/relationships/hyperlink" Target="https://es.wikipedia.org/wiki/Carga_el%C3%A9ctrica" TargetMode="External"/><Relationship Id="rId9" Type="http://schemas.openxmlformats.org/officeDocument/2006/relationships/image" Target="../media/image10.png"/><Relationship Id="rId5" Type="http://schemas.openxmlformats.org/officeDocument/2006/relationships/hyperlink" Target="https://es.wikipedia.org/wiki/Rayo" TargetMode="External"/><Relationship Id="rId6" Type="http://schemas.openxmlformats.org/officeDocument/2006/relationships/hyperlink" Target="https://es.wikipedia.org/wiki/Electricidad_est%C3%A1tica" TargetMode="External"/><Relationship Id="rId7" Type="http://schemas.openxmlformats.org/officeDocument/2006/relationships/hyperlink" Target="https://es.wikipedia.org/wiki/Inducci%C3%B3n_electromagn%C3%A9tica" TargetMode="External"/><Relationship Id="rId8" Type="http://schemas.openxmlformats.org/officeDocument/2006/relationships/hyperlink" Target="https://es.wikipedia.org/wiki/Corriente_el%C3%A9ctric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es.wikipedia.org/wiki/Placa_computadora" TargetMode="External"/><Relationship Id="rId4" Type="http://schemas.openxmlformats.org/officeDocument/2006/relationships/image" Target="../media/image6.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envirodiy.org/wide-wide-world-of-diy-and-di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es.wikipedia.org/wiki/Sistema_inform%C3%A1tico" TargetMode="Externa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www.youtube.com/watch?v=RFs1LCb9lyw" TargetMode="External"/><Relationship Id="rId4" Type="http://schemas.openxmlformats.org/officeDocument/2006/relationships/image" Target="../media/image2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8.png"/></Relationships>
</file>

<file path=ppt/slides/_rels/slide55.xml.rels><?xml version="1.0" encoding="UTF-8" standalone="yes"?><Relationships xmlns="http://schemas.openxmlformats.org/package/2006/relationships"><Relationship Id="rId11" Type="http://schemas.openxmlformats.org/officeDocument/2006/relationships/hyperlink" Target="https://www.labverde.com/" TargetMode="External"/><Relationship Id="rId10" Type="http://schemas.openxmlformats.org/officeDocument/2006/relationships/hyperlink" Target="https://vistprojects.com/" TargetMode="External"/><Relationship Id="rId13" Type="http://schemas.openxmlformats.org/officeDocument/2006/relationships/hyperlink" Target="https://forum.openhardware.science/" TargetMode="External"/><Relationship Id="rId12" Type="http://schemas.openxmlformats.org/officeDocument/2006/relationships/hyperlink" Target="https://www.dinalab.net/" TargetMode="External"/><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hyperlink" Target="https://www.instagram.com/p/C7zmX9cPL0g/?img_index=1" TargetMode="External"/><Relationship Id="rId4" Type="http://schemas.openxmlformats.org/officeDocument/2006/relationships/hyperlink" Target="https://www.envirodiy.org/" TargetMode="External"/><Relationship Id="rId9" Type="http://schemas.openxmlformats.org/officeDocument/2006/relationships/hyperlink" Target="https://open.spotify.com/episode/51oE2yOXGkAtdrfCy3PyVE?si=6d9f19bef6b94225" TargetMode="External"/><Relationship Id="rId14" Type="http://schemas.openxmlformats.org/officeDocument/2006/relationships/hyperlink" Target="https://www.instagram.com/ehys.unsam/" TargetMode="External"/><Relationship Id="rId5" Type="http://schemas.openxmlformats.org/officeDocument/2006/relationships/hyperlink" Target="https://www.instructables.com/" TargetMode="External"/><Relationship Id="rId6" Type="http://schemas.openxmlformats.org/officeDocument/2006/relationships/hyperlink" Target="https://randomnerdtutorials.com/" TargetMode="External"/><Relationship Id="rId7" Type="http://schemas.openxmlformats.org/officeDocument/2006/relationships/hyperlink" Target="https://naylampmechatronics.com/content/6-tutoriales-y-proyectos-con-arduino" TargetMode="External"/><Relationship Id="rId8" Type="http://schemas.openxmlformats.org/officeDocument/2006/relationships/hyperlink" Target="https://open.spotify.com/show/0WxxsBKP7gyRXXlWtj8fj4?si=7b55719573194263" TargetMode="External"/></Relationships>
</file>

<file path=ppt/slides/_rels/slide56.xml.rels><?xml version="1.0" encoding="UTF-8" standalone="yes"?><Relationships xmlns="http://schemas.openxmlformats.org/package/2006/relationships"><Relationship Id="rId11" Type="http://schemas.openxmlformats.org/officeDocument/2006/relationships/hyperlink" Target="https://github.com/nicolassaganias/PUCE_formacion" TargetMode="External"/><Relationship Id="rId10" Type="http://schemas.openxmlformats.org/officeDocument/2006/relationships/hyperlink" Target="https://grafana.com/" TargetMode="External"/><Relationship Id="rId13" Type="http://schemas.openxmlformats.org/officeDocument/2006/relationships/hyperlink" Target="https://www.dfrobot.com/" TargetMode="External"/><Relationship Id="rId12" Type="http://schemas.openxmlformats.org/officeDocument/2006/relationships/hyperlink" Target="https://atlas-scientific.com/" TargetMode="External"/><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hyperlink" Target="https://www.youtube.com/watch?v=yud_tzVBGNc" TargetMode="External"/><Relationship Id="rId4" Type="http://schemas.openxmlformats.org/officeDocument/2006/relationships/hyperlink" Target="https://github.com/nicolassaganias/insectodrom?tab=readme-ov-file" TargetMode="External"/><Relationship Id="rId9" Type="http://schemas.openxmlformats.org/officeDocument/2006/relationships/hyperlink" Target="https://www.thethingsnetwork.org/" TargetMode="External"/><Relationship Id="rId15" Type="http://schemas.openxmlformats.org/officeDocument/2006/relationships/hyperlink" Target="https://www.adafruit.com/" TargetMode="External"/><Relationship Id="rId14" Type="http://schemas.openxmlformats.org/officeDocument/2006/relationships/hyperlink" Target="https://www.seeedstudio.com/" TargetMode="External"/><Relationship Id="rId16" Type="http://schemas.openxmlformats.org/officeDocument/2006/relationships/hyperlink" Target="https://www.sparkfun.com/" TargetMode="External"/><Relationship Id="rId5" Type="http://schemas.openxmlformats.org/officeDocument/2006/relationships/hyperlink" Target="https://www.instructables.com/Mothbox-DIY-Insect-Camera/" TargetMode="External"/><Relationship Id="rId6" Type="http://schemas.openxmlformats.org/officeDocument/2006/relationships/hyperlink" Target="https://projects.raspberrypi.org/en/projects/infrared-bird-box/9" TargetMode="External"/><Relationship Id="rId7" Type="http://schemas.openxmlformats.org/officeDocument/2006/relationships/hyperlink" Target="https://www.catsensors.com/es/lorawan/tecnologia-lora-y-lorawan" TargetMode="External"/><Relationship Id="rId8" Type="http://schemas.openxmlformats.org/officeDocument/2006/relationships/hyperlink" Target="https://www.youtube.com/watch?v=YQ7aLHCTeeE&amp;t=21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hyperlink" Target="https://www.youtube.com/watch?v=wlX2SDjCJL4" TargetMode="External"/><Relationship Id="rId4" Type="http://schemas.openxmlformats.org/officeDocument/2006/relationships/hyperlink" Target="https://www.raspberrypi.com/documentation/accessories/camera.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5.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7.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0"/>
            <a:ext cx="8520600" cy="1232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s" sz="3500"/>
              <a:t>Montaje y Calibración de sensores ambientales low-cost</a:t>
            </a:r>
            <a:endParaRPr b="1" sz="3500"/>
          </a:p>
        </p:txBody>
      </p:sp>
      <p:pic>
        <p:nvPicPr>
          <p:cNvPr id="61" name="Google Shape;61;p14" title="log.png"/>
          <p:cNvPicPr preferRelativeResize="0"/>
          <p:nvPr/>
        </p:nvPicPr>
        <p:blipFill>
          <a:blip r:embed="rId3">
            <a:alphaModFix/>
          </a:blip>
          <a:stretch>
            <a:fillRect/>
          </a:stretch>
        </p:blipFill>
        <p:spPr>
          <a:xfrm>
            <a:off x="1824725" y="1311325"/>
            <a:ext cx="5494548" cy="366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s" sz="3000">
                <a:latin typeface="Calibri"/>
                <a:ea typeface="Calibri"/>
                <a:cs typeface="Calibri"/>
                <a:sym typeface="Calibri"/>
              </a:rPr>
              <a:t>Temario</a:t>
            </a:r>
            <a:endParaRPr b="1" sz="3000"/>
          </a:p>
        </p:txBody>
      </p:sp>
      <p:sp>
        <p:nvSpPr>
          <p:cNvPr id="67" name="Google Shape;67;p15"/>
          <p:cNvSpPr txBox="1"/>
          <p:nvPr>
            <p:ph idx="1" type="body"/>
          </p:nvPr>
        </p:nvSpPr>
        <p:spPr>
          <a:xfrm>
            <a:off x="457200" y="1245375"/>
            <a:ext cx="8229600" cy="3394500"/>
          </a:xfrm>
          <a:prstGeom prst="rect">
            <a:avLst/>
          </a:prstGeom>
          <a:noFill/>
          <a:ln>
            <a:noFill/>
          </a:ln>
        </p:spPr>
        <p:txBody>
          <a:bodyPr anchorCtr="0" anchor="t" bIns="45700" lIns="91425" spcFirstLastPara="1" rIns="91425" wrap="square" tIns="45700">
            <a:normAutofit/>
          </a:bodyPr>
          <a:lstStyle/>
          <a:p>
            <a:pPr indent="-391160" lvl="0" marL="342900" rtl="0" algn="l">
              <a:lnSpc>
                <a:spcPct val="105000"/>
              </a:lnSpc>
              <a:spcBef>
                <a:spcPts val="640"/>
              </a:spcBef>
              <a:spcAft>
                <a:spcPts val="0"/>
              </a:spcAft>
              <a:buClr>
                <a:schemeClr val="dk1"/>
              </a:buClr>
              <a:buSzPts val="2560"/>
              <a:buFont typeface="Calibri"/>
              <a:buChar char="●"/>
            </a:pPr>
            <a:r>
              <a:rPr lang="es" sz="2560">
                <a:solidFill>
                  <a:schemeClr val="dk1"/>
                </a:solidFill>
                <a:latin typeface="Calibri"/>
                <a:ea typeface="Calibri"/>
                <a:cs typeface="Calibri"/>
                <a:sym typeface="Calibri"/>
              </a:rPr>
              <a:t>Modelo de Sistema Tecnológico</a:t>
            </a:r>
            <a:endParaRPr sz="1265"/>
          </a:p>
          <a:p>
            <a:pPr indent="-302260" lvl="0" marL="342900" rtl="0" algn="l">
              <a:lnSpc>
                <a:spcPct val="105000"/>
              </a:lnSpc>
              <a:spcBef>
                <a:spcPts val="640"/>
              </a:spcBef>
              <a:spcAft>
                <a:spcPts val="0"/>
              </a:spcAft>
              <a:buClr>
                <a:schemeClr val="dk1"/>
              </a:buClr>
              <a:buSzPts val="2560"/>
              <a:buChar char="●"/>
            </a:pPr>
            <a:r>
              <a:rPr lang="es" sz="2560">
                <a:solidFill>
                  <a:schemeClr val="dk1"/>
                </a:solidFill>
                <a:latin typeface="Calibri"/>
                <a:ea typeface="Calibri"/>
                <a:cs typeface="Calibri"/>
                <a:sym typeface="Calibri"/>
              </a:rPr>
              <a:t>Fundamentos de Electricidad y Electrónica</a:t>
            </a:r>
            <a:endParaRPr sz="1265"/>
          </a:p>
          <a:p>
            <a:pPr indent="-302260" lvl="0" marL="342900" rtl="0" algn="l">
              <a:lnSpc>
                <a:spcPct val="105000"/>
              </a:lnSpc>
              <a:spcBef>
                <a:spcPts val="640"/>
              </a:spcBef>
              <a:spcAft>
                <a:spcPts val="0"/>
              </a:spcAft>
              <a:buClr>
                <a:schemeClr val="dk1"/>
              </a:buClr>
              <a:buSzPts val="2560"/>
              <a:buChar char="●"/>
            </a:pPr>
            <a:r>
              <a:rPr lang="es" sz="2560">
                <a:solidFill>
                  <a:schemeClr val="dk1"/>
                </a:solidFill>
                <a:latin typeface="Calibri"/>
                <a:ea typeface="Calibri"/>
                <a:cs typeface="Calibri"/>
                <a:sym typeface="Calibri"/>
              </a:rPr>
              <a:t>Sensores y Actuadores</a:t>
            </a:r>
            <a:endParaRPr sz="1265"/>
          </a:p>
          <a:p>
            <a:pPr indent="-302260" lvl="0" marL="342900" rtl="0" algn="l">
              <a:lnSpc>
                <a:spcPct val="105000"/>
              </a:lnSpc>
              <a:spcBef>
                <a:spcPts val="640"/>
              </a:spcBef>
              <a:spcAft>
                <a:spcPts val="0"/>
              </a:spcAft>
              <a:buClr>
                <a:schemeClr val="dk1"/>
              </a:buClr>
              <a:buSzPts val="2560"/>
              <a:buChar char="●"/>
            </a:pPr>
            <a:r>
              <a:rPr lang="es" sz="2560">
                <a:solidFill>
                  <a:schemeClr val="dk1"/>
                </a:solidFill>
                <a:latin typeface="Calibri"/>
                <a:ea typeface="Calibri"/>
                <a:cs typeface="Calibri"/>
                <a:sym typeface="Calibri"/>
              </a:rPr>
              <a:t>Arquitectura y Programaci</a:t>
            </a:r>
            <a:r>
              <a:rPr lang="es" sz="2560">
                <a:solidFill>
                  <a:schemeClr val="dk1"/>
                </a:solidFill>
                <a:latin typeface="Calibri"/>
                <a:ea typeface="Calibri"/>
                <a:cs typeface="Calibri"/>
                <a:sym typeface="Calibri"/>
              </a:rPr>
              <a:t>ón en </a:t>
            </a:r>
            <a:r>
              <a:rPr lang="es" sz="2560">
                <a:solidFill>
                  <a:schemeClr val="dk1"/>
                </a:solidFill>
                <a:latin typeface="Calibri"/>
                <a:ea typeface="Calibri"/>
                <a:cs typeface="Calibri"/>
                <a:sym typeface="Calibri"/>
              </a:rPr>
              <a:t>Arduino</a:t>
            </a:r>
            <a:endParaRPr sz="1265"/>
          </a:p>
          <a:p>
            <a:pPr indent="-302260" lvl="0" marL="342900" rtl="0" algn="l">
              <a:lnSpc>
                <a:spcPct val="105000"/>
              </a:lnSpc>
              <a:spcBef>
                <a:spcPts val="640"/>
              </a:spcBef>
              <a:spcAft>
                <a:spcPts val="1200"/>
              </a:spcAft>
              <a:buClr>
                <a:schemeClr val="dk1"/>
              </a:buClr>
              <a:buSzPts val="2560"/>
              <a:buFont typeface="Calibri"/>
              <a:buChar char="●"/>
            </a:pPr>
            <a:r>
              <a:rPr lang="es" sz="2560">
                <a:solidFill>
                  <a:schemeClr val="dk1"/>
                </a:solidFill>
                <a:latin typeface="Calibri"/>
                <a:ea typeface="Calibri"/>
                <a:cs typeface="Calibri"/>
                <a:sym typeface="Calibri"/>
              </a:rPr>
              <a:t>M</a:t>
            </a:r>
            <a:r>
              <a:rPr lang="es" sz="2560">
                <a:solidFill>
                  <a:schemeClr val="dk1"/>
                </a:solidFill>
                <a:latin typeface="Calibri"/>
                <a:ea typeface="Calibri"/>
                <a:cs typeface="Calibri"/>
                <a:sym typeface="Calibri"/>
              </a:rPr>
              <a:t>ontaje de prototipos repetibles y </a:t>
            </a:r>
            <a:r>
              <a:rPr lang="es" sz="2560">
                <a:solidFill>
                  <a:schemeClr val="dk1"/>
                </a:solidFill>
                <a:latin typeface="Calibri"/>
                <a:ea typeface="Calibri"/>
                <a:cs typeface="Calibri"/>
                <a:sym typeface="Calibri"/>
              </a:rPr>
              <a:t>modificables</a:t>
            </a:r>
            <a:r>
              <a:rPr lang="es" sz="2560">
                <a:solidFill>
                  <a:schemeClr val="dk1"/>
                </a:solidFill>
                <a:latin typeface="Calibri"/>
                <a:ea typeface="Calibri"/>
                <a:cs typeface="Calibri"/>
                <a:sym typeface="Calibri"/>
              </a:rPr>
              <a:t> con sensores low-cost y adquisici</a:t>
            </a:r>
            <a:r>
              <a:rPr lang="es" sz="2560">
                <a:solidFill>
                  <a:schemeClr val="dk1"/>
                </a:solidFill>
                <a:latin typeface="Calibri"/>
                <a:ea typeface="Calibri"/>
                <a:cs typeface="Calibri"/>
                <a:sym typeface="Calibri"/>
              </a:rPr>
              <a:t>ón de datos.</a:t>
            </a:r>
            <a:endParaRPr sz="256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s"/>
              <a:t>Objetivos</a:t>
            </a:r>
            <a:r>
              <a:rPr lang="es"/>
              <a:t> </a:t>
            </a:r>
            <a:endParaRPr/>
          </a:p>
        </p:txBody>
      </p:sp>
      <p:sp>
        <p:nvSpPr>
          <p:cNvPr id="73" name="Google Shape;73;p16"/>
          <p:cNvSpPr txBox="1"/>
          <p:nvPr/>
        </p:nvSpPr>
        <p:spPr>
          <a:xfrm>
            <a:off x="457200" y="1148725"/>
            <a:ext cx="8229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Desarrollar capacidades técnicas para diseñar, construir y calibrar prototipos de monitoreo ambiental de bajo costo, utilizando plataformas open-source (Arduino) y sensores accesibles.</a:t>
            </a:r>
            <a:endParaRPr sz="1800">
              <a:solidFill>
                <a:schemeClr val="dk2"/>
              </a:solidFill>
            </a:endParaRPr>
          </a:p>
        </p:txBody>
      </p:sp>
      <p:sp>
        <p:nvSpPr>
          <p:cNvPr id="74" name="Google Shape;74;p16"/>
          <p:cNvSpPr txBox="1"/>
          <p:nvPr/>
        </p:nvSpPr>
        <p:spPr>
          <a:xfrm>
            <a:off x="214775" y="2238250"/>
            <a:ext cx="8602800" cy="2327400"/>
          </a:xfrm>
          <a:prstGeom prst="rect">
            <a:avLst/>
          </a:prstGeom>
          <a:noFill/>
          <a:ln>
            <a:noFill/>
          </a:ln>
        </p:spPr>
        <p:txBody>
          <a:bodyPr anchorCtr="0" anchor="t" bIns="91425" lIns="91425" spcFirstLastPara="1" rIns="91425" wrap="square" tIns="91425">
            <a:spAutoFit/>
          </a:bodyPr>
          <a:lstStyle/>
          <a:p>
            <a:pPr indent="-279400" lvl="0" marL="342900" marR="0" rtl="0" algn="l">
              <a:lnSpc>
                <a:spcPct val="115000"/>
              </a:lnSpc>
              <a:spcBef>
                <a:spcPts val="640"/>
              </a:spcBef>
              <a:spcAft>
                <a:spcPts val="0"/>
              </a:spcAft>
              <a:buClr>
                <a:schemeClr val="dk1"/>
              </a:buClr>
              <a:buSzPts val="2200"/>
              <a:buChar char="●"/>
            </a:pPr>
            <a:r>
              <a:rPr b="1" lang="es" sz="2200">
                <a:solidFill>
                  <a:schemeClr val="dk1"/>
                </a:solidFill>
                <a:latin typeface="Calibri"/>
                <a:ea typeface="Calibri"/>
                <a:cs typeface="Calibri"/>
                <a:sym typeface="Calibri"/>
              </a:rPr>
              <a:t>Comprender</a:t>
            </a:r>
            <a:r>
              <a:rPr lang="es" sz="2200">
                <a:solidFill>
                  <a:schemeClr val="dk1"/>
                </a:solidFill>
                <a:latin typeface="Calibri"/>
                <a:ea typeface="Calibri"/>
                <a:cs typeface="Calibri"/>
                <a:sym typeface="Calibri"/>
              </a:rPr>
              <a:t> la arquitectura de sistemas tecnológicos (input-procesamiento-output)</a:t>
            </a:r>
            <a:endParaRPr sz="2200">
              <a:solidFill>
                <a:schemeClr val="dk1"/>
              </a:solidFill>
              <a:latin typeface="Calibri"/>
              <a:ea typeface="Calibri"/>
              <a:cs typeface="Calibri"/>
              <a:sym typeface="Calibri"/>
            </a:endParaRPr>
          </a:p>
          <a:p>
            <a:pPr indent="-279400" lvl="0" marL="342900" marR="0" rtl="0" algn="l">
              <a:lnSpc>
                <a:spcPct val="115000"/>
              </a:lnSpc>
              <a:spcBef>
                <a:spcPts val="640"/>
              </a:spcBef>
              <a:spcAft>
                <a:spcPts val="0"/>
              </a:spcAft>
              <a:buClr>
                <a:schemeClr val="dk1"/>
              </a:buClr>
              <a:buSzPts val="2200"/>
              <a:buChar char="●"/>
            </a:pPr>
            <a:r>
              <a:rPr b="1" lang="es" sz="2200">
                <a:solidFill>
                  <a:schemeClr val="dk1"/>
                </a:solidFill>
                <a:latin typeface="Calibri"/>
                <a:ea typeface="Calibri"/>
                <a:cs typeface="Calibri"/>
                <a:sym typeface="Calibri"/>
              </a:rPr>
              <a:t>Dominar</a:t>
            </a:r>
            <a:r>
              <a:rPr lang="es" sz="2200">
                <a:solidFill>
                  <a:schemeClr val="dk1"/>
                </a:solidFill>
                <a:latin typeface="Calibri"/>
                <a:ea typeface="Calibri"/>
                <a:cs typeface="Calibri"/>
                <a:sym typeface="Calibri"/>
              </a:rPr>
              <a:t> fundamentos básicos de la electrónica aplicada.</a:t>
            </a:r>
            <a:endParaRPr sz="2200">
              <a:solidFill>
                <a:schemeClr val="dk1"/>
              </a:solidFill>
              <a:latin typeface="Calibri"/>
              <a:ea typeface="Calibri"/>
              <a:cs typeface="Calibri"/>
              <a:sym typeface="Calibri"/>
            </a:endParaRPr>
          </a:p>
          <a:p>
            <a:pPr indent="-279400" lvl="0" marL="342900" marR="0" rtl="0" algn="l">
              <a:lnSpc>
                <a:spcPct val="115000"/>
              </a:lnSpc>
              <a:spcBef>
                <a:spcPts val="640"/>
              </a:spcBef>
              <a:spcAft>
                <a:spcPts val="0"/>
              </a:spcAft>
              <a:buClr>
                <a:schemeClr val="dk1"/>
              </a:buClr>
              <a:buSzPts val="2200"/>
              <a:buChar char="●"/>
            </a:pPr>
            <a:r>
              <a:rPr b="1" lang="es" sz="2200">
                <a:solidFill>
                  <a:schemeClr val="dk1"/>
                </a:solidFill>
                <a:latin typeface="Calibri"/>
                <a:ea typeface="Calibri"/>
                <a:cs typeface="Calibri"/>
                <a:sym typeface="Calibri"/>
              </a:rPr>
              <a:t>Programar</a:t>
            </a:r>
            <a:r>
              <a:rPr lang="es" sz="2200">
                <a:solidFill>
                  <a:schemeClr val="dk1"/>
                </a:solidFill>
                <a:latin typeface="Calibri"/>
                <a:ea typeface="Calibri"/>
                <a:cs typeface="Calibri"/>
                <a:sym typeface="Calibri"/>
              </a:rPr>
              <a:t> microcontroladores Arduino para adquisición de datos.</a:t>
            </a:r>
            <a:endParaRPr sz="2200">
              <a:solidFill>
                <a:schemeClr val="dk1"/>
              </a:solidFill>
              <a:latin typeface="Calibri"/>
              <a:ea typeface="Calibri"/>
              <a:cs typeface="Calibri"/>
              <a:sym typeface="Calibri"/>
            </a:endParaRPr>
          </a:p>
          <a:p>
            <a:pPr indent="-279400" lvl="0" marL="342900" marR="0" rtl="0" algn="l">
              <a:lnSpc>
                <a:spcPct val="115000"/>
              </a:lnSpc>
              <a:spcBef>
                <a:spcPts val="640"/>
              </a:spcBef>
              <a:spcAft>
                <a:spcPts val="0"/>
              </a:spcAft>
              <a:buClr>
                <a:schemeClr val="dk1"/>
              </a:buClr>
              <a:buSzPts val="2200"/>
              <a:buChar char="●"/>
            </a:pPr>
            <a:r>
              <a:rPr b="1" lang="es" sz="2200">
                <a:solidFill>
                  <a:schemeClr val="dk1"/>
                </a:solidFill>
                <a:latin typeface="Calibri"/>
                <a:ea typeface="Calibri"/>
                <a:cs typeface="Calibri"/>
                <a:sym typeface="Calibri"/>
              </a:rPr>
              <a:t>Construir</a:t>
            </a:r>
            <a:r>
              <a:rPr lang="es" sz="2200">
                <a:solidFill>
                  <a:schemeClr val="dk1"/>
                </a:solidFill>
                <a:latin typeface="Calibri"/>
                <a:ea typeface="Calibri"/>
                <a:cs typeface="Calibri"/>
                <a:sym typeface="Calibri"/>
              </a:rPr>
              <a:t> 2 prototipos ambientales low-cost repetibles</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ctrTitle"/>
          </p:nvPr>
        </p:nvSpPr>
        <p:spPr>
          <a:xfrm>
            <a:off x="311700" y="239850"/>
            <a:ext cx="8520600" cy="1557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s"/>
              <a:t>Introducción a la Programación y la Electrónica</a:t>
            </a:r>
            <a:endParaRPr/>
          </a:p>
        </p:txBody>
      </p:sp>
      <p:sp>
        <p:nvSpPr>
          <p:cNvPr id="80" name="Google Shape;80;p17"/>
          <p:cNvSpPr txBox="1"/>
          <p:nvPr>
            <p:ph idx="1" type="subTitle"/>
          </p:nvPr>
        </p:nvSpPr>
        <p:spPr>
          <a:xfrm>
            <a:off x="311700" y="1797450"/>
            <a:ext cx="8520600" cy="3239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por Nicolás Sagan</a:t>
            </a:r>
            <a:r>
              <a:rPr lang="es"/>
              <a:t>ías</a:t>
            </a:r>
            <a:endParaRPr sz="1800">
              <a:solidFill>
                <a:srgbClr val="202122"/>
              </a:solidFill>
              <a:highlight>
                <a:srgbClr val="FFFFFF"/>
              </a:highlight>
            </a:endParaRPr>
          </a:p>
          <a:p>
            <a:pPr indent="0" lvl="0" marL="0" marR="0" rtl="0" algn="ctr">
              <a:lnSpc>
                <a:spcPct val="115000"/>
              </a:lnSpc>
              <a:spcBef>
                <a:spcPts val="0"/>
              </a:spcBef>
              <a:spcAft>
                <a:spcPts val="0"/>
              </a:spcAft>
              <a:buNone/>
            </a:pPr>
            <a:r>
              <a:t/>
            </a:r>
            <a:endParaRPr sz="1800">
              <a:solidFill>
                <a:srgbClr val="202122"/>
              </a:solidFill>
              <a:highlight>
                <a:srgbClr val="FFFFFF"/>
              </a:highlight>
            </a:endParaRPr>
          </a:p>
          <a:p>
            <a:pPr indent="0" lvl="0" marL="0" marR="0" rtl="0" algn="ctr">
              <a:lnSpc>
                <a:spcPct val="115000"/>
              </a:lnSpc>
              <a:spcBef>
                <a:spcPts val="1200"/>
              </a:spcBef>
              <a:spcAft>
                <a:spcPts val="0"/>
              </a:spcAft>
              <a:buNone/>
            </a:pPr>
            <a:r>
              <a:rPr lang="es" sz="1800" u="sng">
                <a:solidFill>
                  <a:schemeClr val="hlink"/>
                </a:solidFill>
                <a:highlight>
                  <a:srgbClr val="FFFFFF"/>
                </a:highlight>
                <a:hlinkClick r:id="rId3"/>
              </a:rPr>
              <a:t>LinkedIn</a:t>
            </a:r>
            <a:endParaRPr sz="1800">
              <a:solidFill>
                <a:srgbClr val="202122"/>
              </a:solidFill>
              <a:highlight>
                <a:srgbClr val="FFFFFF"/>
              </a:highlight>
            </a:endParaRPr>
          </a:p>
          <a:p>
            <a:pPr indent="0" lvl="0" marL="0" marR="0" rtl="0" algn="ctr">
              <a:lnSpc>
                <a:spcPct val="115000"/>
              </a:lnSpc>
              <a:spcBef>
                <a:spcPts val="1200"/>
              </a:spcBef>
              <a:spcAft>
                <a:spcPts val="0"/>
              </a:spcAft>
              <a:buNone/>
            </a:pPr>
            <a:r>
              <a:rPr lang="es" sz="1800" u="sng">
                <a:solidFill>
                  <a:schemeClr val="hlink"/>
                </a:solidFill>
                <a:highlight>
                  <a:srgbClr val="FFFFFF"/>
                </a:highlight>
                <a:hlinkClick r:id="rId4"/>
              </a:rPr>
              <a:t>Upwork</a:t>
            </a:r>
            <a:endParaRPr sz="1800">
              <a:solidFill>
                <a:srgbClr val="202122"/>
              </a:solidFill>
              <a:highlight>
                <a:srgbClr val="FFFFFF"/>
              </a:highlight>
            </a:endParaRPr>
          </a:p>
          <a:p>
            <a:pPr indent="0" lvl="0" marL="0" marR="0" rtl="0" algn="ctr">
              <a:lnSpc>
                <a:spcPct val="115000"/>
              </a:lnSpc>
              <a:spcBef>
                <a:spcPts val="1200"/>
              </a:spcBef>
              <a:spcAft>
                <a:spcPts val="0"/>
              </a:spcAft>
              <a:buNone/>
            </a:pPr>
            <a:r>
              <a:t/>
            </a:r>
            <a:endParaRPr sz="1800">
              <a:solidFill>
                <a:srgbClr val="202122"/>
              </a:solidFill>
              <a:highlight>
                <a:srgbClr val="FFFFFF"/>
              </a:highlight>
            </a:endParaRPr>
          </a:p>
          <a:p>
            <a:pPr indent="0" lvl="0" marL="0" marR="0" rtl="0" algn="ctr">
              <a:lnSpc>
                <a:spcPct val="115000"/>
              </a:lnSpc>
              <a:spcBef>
                <a:spcPts val="1200"/>
              </a:spcBef>
              <a:spcAft>
                <a:spcPts val="1200"/>
              </a:spcAft>
              <a:buNone/>
            </a:pPr>
            <a:r>
              <a:rPr lang="es" sz="1800">
                <a:solidFill>
                  <a:srgbClr val="202122"/>
                </a:solidFill>
                <a:highlight>
                  <a:srgbClr val="FFFFFF"/>
                </a:highlight>
              </a:rPr>
              <a:t>nicolassaganias@protonmail.com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s" sz="4400">
                <a:solidFill>
                  <a:schemeClr val="dk1"/>
                </a:solidFill>
                <a:latin typeface="Calibri"/>
                <a:ea typeface="Calibri"/>
                <a:cs typeface="Calibri"/>
                <a:sym typeface="Calibri"/>
              </a:rPr>
              <a:t>Índice</a:t>
            </a:r>
            <a:endParaRPr/>
          </a:p>
        </p:txBody>
      </p:sp>
      <p:sp>
        <p:nvSpPr>
          <p:cNvPr id="86" name="Google Shape;86;p1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77500" lnSpcReduction="20000"/>
          </a:bodyPr>
          <a:lstStyle/>
          <a:p>
            <a:pPr indent="-139700" lvl="0" marL="342900" rtl="0" algn="l">
              <a:spcBef>
                <a:spcPts val="0"/>
              </a:spcBef>
              <a:spcAft>
                <a:spcPts val="0"/>
              </a:spcAft>
              <a:buClr>
                <a:schemeClr val="dk1"/>
              </a:buClr>
              <a:buSzPct val="100000"/>
              <a:buNone/>
            </a:pPr>
            <a:r>
              <a:t/>
            </a:r>
            <a:endParaRPr sz="3200">
              <a:solidFill>
                <a:schemeClr val="dk1"/>
              </a:solidFill>
              <a:latin typeface="Calibri"/>
              <a:ea typeface="Calibri"/>
              <a:cs typeface="Calibri"/>
              <a:sym typeface="Calibri"/>
            </a:endParaRPr>
          </a:p>
          <a:p>
            <a:pPr indent="-297180" lvl="0" marL="342900" rtl="0" algn="l">
              <a:spcBef>
                <a:spcPts val="640"/>
              </a:spcBef>
              <a:spcAft>
                <a:spcPts val="0"/>
              </a:spcAft>
              <a:buClr>
                <a:schemeClr val="dk1"/>
              </a:buClr>
              <a:buSzPct val="100000"/>
              <a:buChar char="●"/>
            </a:pPr>
            <a:r>
              <a:rPr lang="es" sz="3200">
                <a:solidFill>
                  <a:schemeClr val="dk1"/>
                </a:solidFill>
                <a:latin typeface="Calibri"/>
                <a:ea typeface="Calibri"/>
                <a:cs typeface="Calibri"/>
                <a:sym typeface="Calibri"/>
              </a:rPr>
              <a:t>Modelo de Sistema Tecnológico</a:t>
            </a:r>
            <a:endParaRPr/>
          </a:p>
          <a:p>
            <a:pPr indent="-297180" lvl="0" marL="342900" rtl="0" algn="l">
              <a:spcBef>
                <a:spcPts val="640"/>
              </a:spcBef>
              <a:spcAft>
                <a:spcPts val="0"/>
              </a:spcAft>
              <a:buClr>
                <a:schemeClr val="dk1"/>
              </a:buClr>
              <a:buSzPct val="100000"/>
              <a:buChar char="●"/>
            </a:pPr>
            <a:r>
              <a:rPr lang="es" sz="3200">
                <a:solidFill>
                  <a:schemeClr val="dk1"/>
                </a:solidFill>
                <a:latin typeface="Calibri"/>
                <a:ea typeface="Calibri"/>
                <a:cs typeface="Calibri"/>
                <a:sym typeface="Calibri"/>
              </a:rPr>
              <a:t>Fundamentos de Electricidad y Electr</a:t>
            </a:r>
            <a:r>
              <a:rPr lang="es" sz="3200">
                <a:solidFill>
                  <a:schemeClr val="dk1"/>
                </a:solidFill>
                <a:latin typeface="Calibri"/>
                <a:ea typeface="Calibri"/>
                <a:cs typeface="Calibri"/>
                <a:sym typeface="Calibri"/>
              </a:rPr>
              <a:t>ónica</a:t>
            </a:r>
            <a:endParaRPr/>
          </a:p>
          <a:p>
            <a:pPr indent="-297180" lvl="0" marL="342900" rtl="0" algn="l">
              <a:spcBef>
                <a:spcPts val="640"/>
              </a:spcBef>
              <a:spcAft>
                <a:spcPts val="0"/>
              </a:spcAft>
              <a:buClr>
                <a:schemeClr val="dk1"/>
              </a:buClr>
              <a:buSzPct val="100000"/>
              <a:buChar char="●"/>
            </a:pPr>
            <a:r>
              <a:rPr lang="es" sz="3200">
                <a:solidFill>
                  <a:schemeClr val="dk1"/>
                </a:solidFill>
                <a:latin typeface="Calibri"/>
                <a:ea typeface="Calibri"/>
                <a:cs typeface="Calibri"/>
                <a:sym typeface="Calibri"/>
              </a:rPr>
              <a:t>Sensores y Actuadores</a:t>
            </a:r>
            <a:endParaRPr/>
          </a:p>
          <a:p>
            <a:pPr indent="-297180" lvl="0" marL="342900" rtl="0" algn="l">
              <a:spcBef>
                <a:spcPts val="640"/>
              </a:spcBef>
              <a:spcAft>
                <a:spcPts val="0"/>
              </a:spcAft>
              <a:buClr>
                <a:schemeClr val="dk1"/>
              </a:buClr>
              <a:buSzPct val="100000"/>
              <a:buChar char="●"/>
            </a:pPr>
            <a:r>
              <a:rPr lang="es" sz="3200">
                <a:solidFill>
                  <a:schemeClr val="dk1"/>
                </a:solidFill>
                <a:latin typeface="Calibri"/>
                <a:ea typeface="Calibri"/>
                <a:cs typeface="Calibri"/>
                <a:sym typeface="Calibri"/>
              </a:rPr>
              <a:t>Arquitectura Arduino</a:t>
            </a:r>
            <a:endParaRPr/>
          </a:p>
          <a:p>
            <a:pPr indent="-297180" lvl="0" marL="342900" rtl="0" algn="l">
              <a:spcBef>
                <a:spcPts val="640"/>
              </a:spcBef>
              <a:spcAft>
                <a:spcPts val="0"/>
              </a:spcAft>
              <a:buClr>
                <a:schemeClr val="dk1"/>
              </a:buClr>
              <a:buSzPct val="100000"/>
              <a:buChar char="●"/>
            </a:pPr>
            <a:r>
              <a:rPr lang="es" sz="3200">
                <a:solidFill>
                  <a:schemeClr val="dk1"/>
                </a:solidFill>
                <a:latin typeface="Calibri"/>
                <a:ea typeface="Calibri"/>
                <a:cs typeface="Calibri"/>
                <a:sym typeface="Calibri"/>
              </a:rPr>
              <a:t>Programación en Arduino</a:t>
            </a:r>
            <a:endParaRPr sz="3200">
              <a:solidFill>
                <a:schemeClr val="dk1"/>
              </a:solidFill>
              <a:latin typeface="Calibri"/>
              <a:ea typeface="Calibri"/>
              <a:cs typeface="Calibri"/>
              <a:sym typeface="Calibri"/>
            </a:endParaRPr>
          </a:p>
          <a:p>
            <a:pPr indent="-297180" lvl="0" marL="342900" rtl="0" algn="l">
              <a:spcBef>
                <a:spcPts val="1200"/>
              </a:spcBef>
              <a:spcAft>
                <a:spcPts val="1200"/>
              </a:spcAft>
              <a:buClr>
                <a:schemeClr val="dk1"/>
              </a:buClr>
              <a:buSzPct val="100000"/>
              <a:buFont typeface="Calibri"/>
              <a:buChar char="●"/>
            </a:pPr>
            <a:r>
              <a:rPr lang="es" sz="3200">
                <a:solidFill>
                  <a:schemeClr val="dk1"/>
                </a:solidFill>
                <a:latin typeface="Calibri"/>
                <a:ea typeface="Calibri"/>
                <a:cs typeface="Calibri"/>
                <a:sym typeface="Calibri"/>
              </a:rPr>
              <a:t>Programaci</a:t>
            </a:r>
            <a:r>
              <a:rPr lang="es" sz="3200">
                <a:solidFill>
                  <a:schemeClr val="dk1"/>
                </a:solidFill>
                <a:latin typeface="Calibri"/>
                <a:ea typeface="Calibri"/>
                <a:cs typeface="Calibri"/>
                <a:sym typeface="Calibri"/>
              </a:rPr>
              <a:t>ón de sensores y kit base para los prototipos</a:t>
            </a:r>
            <a:endParaRPr sz="3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457200" y="815109"/>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s" sz="4400">
                <a:solidFill>
                  <a:schemeClr val="dk1"/>
                </a:solidFill>
                <a:latin typeface="Calibri"/>
                <a:ea typeface="Calibri"/>
                <a:cs typeface="Calibri"/>
                <a:sym typeface="Calibri"/>
              </a:rPr>
              <a:t>¿Cómo una máquina entiende el mundo físico?</a:t>
            </a:r>
            <a:endParaRPr/>
          </a:p>
        </p:txBody>
      </p:sp>
      <p:sp>
        <p:nvSpPr>
          <p:cNvPr id="92" name="Google Shape;92;p19"/>
          <p:cNvSpPr txBox="1"/>
          <p:nvPr>
            <p:ph idx="1" type="body"/>
          </p:nvPr>
        </p:nvSpPr>
        <p:spPr>
          <a:xfrm>
            <a:off x="931200" y="1718075"/>
            <a:ext cx="7281600" cy="25458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342900" lvl="0" marL="342900" rtl="0" algn="l">
              <a:spcBef>
                <a:spcPts val="640"/>
              </a:spcBef>
              <a:spcAft>
                <a:spcPts val="0"/>
              </a:spcAft>
              <a:buClr>
                <a:schemeClr val="dk1"/>
              </a:buClr>
              <a:buSzPts val="3200"/>
              <a:buChar char="●"/>
            </a:pPr>
            <a:r>
              <a:rPr lang="es" sz="3200">
                <a:solidFill>
                  <a:schemeClr val="dk1"/>
                </a:solidFill>
                <a:latin typeface="Calibri"/>
                <a:ea typeface="Calibri"/>
                <a:cs typeface="Calibri"/>
                <a:sym typeface="Calibri"/>
              </a:rPr>
              <a:t>Entrada → Procesamiento → Salida</a:t>
            </a:r>
            <a:endParaRPr/>
          </a:p>
          <a:p>
            <a:pPr indent="-342900" lvl="0" marL="342900" rtl="0" algn="l">
              <a:spcBef>
                <a:spcPts val="640"/>
              </a:spcBef>
              <a:spcAft>
                <a:spcPts val="1200"/>
              </a:spcAft>
              <a:buClr>
                <a:schemeClr val="dk1"/>
              </a:buClr>
              <a:buSzPts val="3200"/>
              <a:buChar char="●"/>
            </a:pPr>
            <a:r>
              <a:rPr lang="es" sz="3200">
                <a:solidFill>
                  <a:schemeClr val="dk1"/>
                </a:solidFill>
                <a:latin typeface="Calibri"/>
                <a:ea typeface="Calibri"/>
                <a:cs typeface="Calibri"/>
                <a:sym typeface="Calibri"/>
              </a:rPr>
              <a:t>Sensor → Microcontrolador → Actuador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Sistema</a:t>
            </a:r>
            <a:endParaRPr b="1"/>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202122"/>
                </a:solidFill>
                <a:highlight>
                  <a:srgbClr val="FFFFFF"/>
                </a:highlight>
              </a:rPr>
              <a:t>Los </a:t>
            </a:r>
            <a:r>
              <a:rPr lang="es">
                <a:solidFill>
                  <a:srgbClr val="0645AD"/>
                </a:solidFill>
                <a:highlight>
                  <a:srgbClr val="FFFFFF"/>
                </a:highlight>
                <a:uFill>
                  <a:noFill/>
                </a:uFill>
                <a:hlinkClick r:id="rId3">
                  <a:extLst>
                    <a:ext uri="{A12FA001-AC4F-418D-AE19-62706E023703}">
                      <ahyp:hlinkClr val="tx"/>
                    </a:ext>
                  </a:extLst>
                </a:hlinkClick>
              </a:rPr>
              <a:t>sistemas</a:t>
            </a:r>
            <a:r>
              <a:rPr lang="es">
                <a:solidFill>
                  <a:srgbClr val="202122"/>
                </a:solidFill>
                <a:highlight>
                  <a:srgbClr val="FFFFFF"/>
                </a:highlight>
              </a:rPr>
              <a:t> (por ejemplo, máquinas) que aplican tecnología tomando una </a:t>
            </a:r>
            <a:r>
              <a:rPr lang="es">
                <a:solidFill>
                  <a:srgbClr val="0645AD"/>
                </a:solidFill>
                <a:highlight>
                  <a:srgbClr val="FFFFFF"/>
                </a:highlight>
                <a:uFill>
                  <a:noFill/>
                </a:uFill>
                <a:hlinkClick r:id="rId4">
                  <a:extLst>
                    <a:ext uri="{A12FA001-AC4F-418D-AE19-62706E023703}">
                      <ahyp:hlinkClr val="tx"/>
                    </a:ext>
                  </a:extLst>
                </a:hlinkClick>
              </a:rPr>
              <a:t>entrada</a:t>
            </a:r>
            <a:r>
              <a:rPr lang="es">
                <a:solidFill>
                  <a:srgbClr val="202122"/>
                </a:solidFill>
                <a:highlight>
                  <a:srgbClr val="FFFFFF"/>
                </a:highlight>
              </a:rPr>
              <a:t>, cambiándola de acuerdo con el uso del sistema y luego produciendo un </a:t>
            </a:r>
            <a:r>
              <a:rPr lang="es">
                <a:solidFill>
                  <a:srgbClr val="0645AD"/>
                </a:solidFill>
                <a:highlight>
                  <a:srgbClr val="FFFFFF"/>
                </a:highlight>
                <a:uFill>
                  <a:noFill/>
                </a:uFill>
                <a:hlinkClick r:id="rId5">
                  <a:extLst>
                    <a:ext uri="{A12FA001-AC4F-418D-AE19-62706E023703}">
                      <ahyp:hlinkClr val="tx"/>
                    </a:ext>
                  </a:extLst>
                </a:hlinkClick>
              </a:rPr>
              <a:t>resultado</a:t>
            </a:r>
            <a:r>
              <a:rPr lang="es">
                <a:solidFill>
                  <a:srgbClr val="202122"/>
                </a:solidFill>
                <a:highlight>
                  <a:srgbClr val="FFFFFF"/>
                </a:highlight>
              </a:rPr>
              <a:t> se denominan </a:t>
            </a:r>
            <a:r>
              <a:rPr lang="es">
                <a:solidFill>
                  <a:srgbClr val="0645AD"/>
                </a:solidFill>
                <a:highlight>
                  <a:srgbClr val="FFFFFF"/>
                </a:highlight>
                <a:uFill>
                  <a:noFill/>
                </a:uFill>
                <a:hlinkClick r:id="rId6">
                  <a:extLst>
                    <a:ext uri="{A12FA001-AC4F-418D-AE19-62706E023703}">
                      <ahyp:hlinkClr val="tx"/>
                    </a:ext>
                  </a:extLst>
                </a:hlinkClick>
              </a:rPr>
              <a:t>sistemas tecnológicos</a:t>
            </a:r>
            <a:r>
              <a:rPr lang="es"/>
              <a:t>.</a:t>
            </a:r>
            <a:endParaRPr/>
          </a:p>
        </p:txBody>
      </p:sp>
      <p:pic>
        <p:nvPicPr>
          <p:cNvPr id="99" name="Google Shape;99;p20"/>
          <p:cNvPicPr preferRelativeResize="0"/>
          <p:nvPr/>
        </p:nvPicPr>
        <p:blipFill rotWithShape="1">
          <a:blip r:embed="rId7">
            <a:alphaModFix/>
          </a:blip>
          <a:srcRect b="26620" l="4793" r="20902" t="20782"/>
          <a:stretch/>
        </p:blipFill>
        <p:spPr>
          <a:xfrm>
            <a:off x="1457588" y="2375150"/>
            <a:ext cx="6228824" cy="2768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3">
            <a:alphaModFix/>
          </a:blip>
          <a:stretch>
            <a:fillRect/>
          </a:stretch>
        </p:blipFill>
        <p:spPr>
          <a:xfrm>
            <a:off x="1926355" y="1017725"/>
            <a:ext cx="5291282" cy="3968475"/>
          </a:xfrm>
          <a:prstGeom prst="rect">
            <a:avLst/>
          </a:prstGeom>
          <a:noFill/>
          <a:ln>
            <a:noFill/>
          </a:ln>
        </p:spPr>
      </p:pic>
      <p:sp>
        <p:nvSpPr>
          <p:cNvPr id="105" name="Google Shape;105;p21"/>
          <p:cNvSpPr txBox="1"/>
          <p:nvPr>
            <p:ph type="title"/>
          </p:nvPr>
        </p:nvSpPr>
        <p:spPr>
          <a:xfrm>
            <a:off x="311700" y="3034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Periféricos</a:t>
            </a:r>
            <a:r>
              <a:rPr b="1" lang="es"/>
              <a:t>: INPUTS y OUTPUT</a:t>
            </a:r>
            <a:endParaRPr b="1"/>
          </a:p>
        </p:txBody>
      </p:sp>
      <p:sp>
        <p:nvSpPr>
          <p:cNvPr id="106" name="Google Shape;106;p21"/>
          <p:cNvSpPr/>
          <p:nvPr/>
        </p:nvSpPr>
        <p:spPr>
          <a:xfrm>
            <a:off x="3481150" y="1916350"/>
            <a:ext cx="782400" cy="655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21"/>
          <p:cNvSpPr/>
          <p:nvPr/>
        </p:nvSpPr>
        <p:spPr>
          <a:xfrm>
            <a:off x="3536950" y="2760450"/>
            <a:ext cx="726600" cy="39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21"/>
          <p:cNvSpPr/>
          <p:nvPr/>
        </p:nvSpPr>
        <p:spPr>
          <a:xfrm rot="-2334022">
            <a:off x="3396462" y="3592978"/>
            <a:ext cx="870427" cy="39552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21"/>
          <p:cNvSpPr/>
          <p:nvPr/>
        </p:nvSpPr>
        <p:spPr>
          <a:xfrm rot="-4632041">
            <a:off x="4336063" y="3785289"/>
            <a:ext cx="461774" cy="39562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1"/>
          <p:cNvSpPr/>
          <p:nvPr/>
        </p:nvSpPr>
        <p:spPr>
          <a:xfrm rot="-8619886">
            <a:off x="5188842" y="3484654"/>
            <a:ext cx="726572" cy="25279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1"/>
          <p:cNvSpPr/>
          <p:nvPr/>
        </p:nvSpPr>
        <p:spPr>
          <a:xfrm rot="-10798204">
            <a:off x="5188906" y="3040925"/>
            <a:ext cx="1148400" cy="252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1"/>
          <p:cNvSpPr/>
          <p:nvPr/>
        </p:nvSpPr>
        <p:spPr>
          <a:xfrm rot="8314472">
            <a:off x="5167048" y="2296140"/>
            <a:ext cx="843806" cy="252925"/>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1"/>
          <p:cNvSpPr/>
          <p:nvPr/>
        </p:nvSpPr>
        <p:spPr>
          <a:xfrm rot="6625130">
            <a:off x="4788701" y="2117661"/>
            <a:ext cx="586448" cy="25288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1"/>
          <p:cNvSpPr/>
          <p:nvPr/>
        </p:nvSpPr>
        <p:spPr>
          <a:xfrm rot="4210479">
            <a:off x="4160016" y="2041460"/>
            <a:ext cx="586459" cy="25289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2"/>
          <p:cNvPicPr preferRelativeResize="0"/>
          <p:nvPr/>
        </p:nvPicPr>
        <p:blipFill>
          <a:blip r:embed="rId3">
            <a:alphaModFix/>
          </a:blip>
          <a:stretch>
            <a:fillRect/>
          </a:stretch>
        </p:blipFill>
        <p:spPr>
          <a:xfrm>
            <a:off x="1926355" y="1017725"/>
            <a:ext cx="5291282" cy="3968475"/>
          </a:xfrm>
          <a:prstGeom prst="rect">
            <a:avLst/>
          </a:prstGeom>
          <a:noFill/>
          <a:ln>
            <a:noFill/>
          </a:ln>
        </p:spPr>
      </p:pic>
      <p:sp>
        <p:nvSpPr>
          <p:cNvPr id="120" name="Google Shape;120;p22"/>
          <p:cNvSpPr txBox="1"/>
          <p:nvPr>
            <p:ph type="title"/>
          </p:nvPr>
        </p:nvSpPr>
        <p:spPr>
          <a:xfrm>
            <a:off x="311700" y="3034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Periféricos: INPUTS y OUTPUT</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3"/>
          <p:cNvPicPr preferRelativeResize="0"/>
          <p:nvPr/>
        </p:nvPicPr>
        <p:blipFill rotWithShape="1">
          <a:blip r:embed="rId3">
            <a:alphaModFix/>
          </a:blip>
          <a:srcRect b="21758" l="5393" r="7899" t="22411"/>
          <a:stretch/>
        </p:blipFill>
        <p:spPr>
          <a:xfrm>
            <a:off x="811125" y="1135888"/>
            <a:ext cx="7928451" cy="2871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378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Sensores y Actuadores</a:t>
            </a:r>
            <a:endParaRPr b="1"/>
          </a:p>
        </p:txBody>
      </p:sp>
      <p:pic>
        <p:nvPicPr>
          <p:cNvPr id="131" name="Google Shape;131;p24"/>
          <p:cNvPicPr preferRelativeResize="0"/>
          <p:nvPr/>
        </p:nvPicPr>
        <p:blipFill>
          <a:blip r:embed="rId3">
            <a:alphaModFix/>
          </a:blip>
          <a:stretch>
            <a:fillRect/>
          </a:stretch>
        </p:blipFill>
        <p:spPr>
          <a:xfrm>
            <a:off x="1207400" y="1305203"/>
            <a:ext cx="6729200" cy="34520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p:cNvPicPr preferRelativeResize="0"/>
          <p:nvPr/>
        </p:nvPicPr>
        <p:blipFill>
          <a:blip r:embed="rId3">
            <a:alphaModFix/>
          </a:blip>
          <a:stretch>
            <a:fillRect/>
          </a:stretch>
        </p:blipFill>
        <p:spPr>
          <a:xfrm>
            <a:off x="4803203" y="593136"/>
            <a:ext cx="4110522" cy="4256876"/>
          </a:xfrm>
          <a:prstGeom prst="rect">
            <a:avLst/>
          </a:prstGeom>
          <a:noFill/>
          <a:ln>
            <a:noFill/>
          </a:ln>
        </p:spPr>
      </p:pic>
      <p:sp>
        <p:nvSpPr>
          <p:cNvPr id="137" name="Google Shape;137;p25"/>
          <p:cNvSpPr txBox="1"/>
          <p:nvPr>
            <p:ph type="title"/>
          </p:nvPr>
        </p:nvSpPr>
        <p:spPr>
          <a:xfrm>
            <a:off x="311700" y="3034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Sensores/Actuadores Naturales</a:t>
            </a:r>
            <a:endParaRPr b="1"/>
          </a:p>
        </p:txBody>
      </p:sp>
      <p:pic>
        <p:nvPicPr>
          <p:cNvPr id="138" name="Google Shape;138;p25" title="Captura de pantalla 2026-02-27 a las 16.31.47.png"/>
          <p:cNvPicPr preferRelativeResize="0"/>
          <p:nvPr/>
        </p:nvPicPr>
        <p:blipFill>
          <a:blip r:embed="rId4">
            <a:alphaModFix/>
          </a:blip>
          <a:stretch>
            <a:fillRect/>
          </a:stretch>
        </p:blipFill>
        <p:spPr>
          <a:xfrm>
            <a:off x="152400" y="942950"/>
            <a:ext cx="4498405" cy="368284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3034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Universo Arduino</a:t>
            </a:r>
            <a:endParaRPr b="1"/>
          </a:p>
        </p:txBody>
      </p:sp>
      <p:pic>
        <p:nvPicPr>
          <p:cNvPr id="144" name="Google Shape;144;p26"/>
          <p:cNvPicPr preferRelativeResize="0"/>
          <p:nvPr/>
        </p:nvPicPr>
        <p:blipFill>
          <a:blip r:embed="rId3">
            <a:alphaModFix/>
          </a:blip>
          <a:stretch>
            <a:fillRect/>
          </a:stretch>
        </p:blipFill>
        <p:spPr>
          <a:xfrm>
            <a:off x="1401975" y="876175"/>
            <a:ext cx="6340042" cy="3962526"/>
          </a:xfrm>
          <a:prstGeom prst="rect">
            <a:avLst/>
          </a:prstGeom>
          <a:noFill/>
          <a:ln>
            <a:noFill/>
          </a:ln>
        </p:spPr>
      </p:pic>
      <p:sp>
        <p:nvSpPr>
          <p:cNvPr id="145" name="Google Shape;145;p26"/>
          <p:cNvSpPr txBox="1"/>
          <p:nvPr>
            <p:ph type="title"/>
          </p:nvPr>
        </p:nvSpPr>
        <p:spPr>
          <a:xfrm>
            <a:off x="311700" y="4440300"/>
            <a:ext cx="2802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Sensores</a:t>
            </a:r>
            <a:endParaRPr b="1"/>
          </a:p>
        </p:txBody>
      </p:sp>
      <p:sp>
        <p:nvSpPr>
          <p:cNvPr id="146" name="Google Shape;146;p26"/>
          <p:cNvSpPr txBox="1"/>
          <p:nvPr>
            <p:ph type="title"/>
          </p:nvPr>
        </p:nvSpPr>
        <p:spPr>
          <a:xfrm>
            <a:off x="6407200" y="4440300"/>
            <a:ext cx="2802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Actuadores</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Electricidad</a:t>
            </a:r>
            <a:endParaRPr b="1"/>
          </a:p>
        </p:txBody>
      </p:sp>
      <p:sp>
        <p:nvSpPr>
          <p:cNvPr id="152" name="Google Shape;15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202122"/>
                </a:solidFill>
                <a:highlight>
                  <a:srgbClr val="FFFFFF"/>
                </a:highlight>
              </a:rPr>
              <a:t>La </a:t>
            </a:r>
            <a:r>
              <a:rPr b="1" lang="es">
                <a:solidFill>
                  <a:srgbClr val="202122"/>
                </a:solidFill>
                <a:highlight>
                  <a:srgbClr val="FFFFFF"/>
                </a:highlight>
              </a:rPr>
              <a:t>electricidad</a:t>
            </a:r>
            <a:r>
              <a:rPr lang="es">
                <a:solidFill>
                  <a:srgbClr val="202122"/>
                </a:solidFill>
                <a:highlight>
                  <a:srgbClr val="FFFFFF"/>
                </a:highlight>
              </a:rPr>
              <a:t> (del griego </a:t>
            </a:r>
            <a:r>
              <a:rPr i="1" lang="es">
                <a:solidFill>
                  <a:srgbClr val="202122"/>
                </a:solidFill>
                <a:highlight>
                  <a:srgbClr val="FFFFFF"/>
                </a:highlight>
              </a:rPr>
              <a:t>élektron</a:t>
            </a:r>
            <a:r>
              <a:rPr lang="es">
                <a:solidFill>
                  <a:srgbClr val="202122"/>
                </a:solidFill>
                <a:highlight>
                  <a:srgbClr val="FFFFFF"/>
                </a:highlight>
              </a:rPr>
              <a:t>, cuyo significado es ‘</a:t>
            </a:r>
            <a:r>
              <a:rPr lang="es">
                <a:solidFill>
                  <a:srgbClr val="0645AD"/>
                </a:solidFill>
                <a:highlight>
                  <a:srgbClr val="FFFFFF"/>
                </a:highlight>
                <a:uFill>
                  <a:noFill/>
                </a:uFill>
                <a:hlinkClick r:id="rId3">
                  <a:extLst>
                    <a:ext uri="{A12FA001-AC4F-418D-AE19-62706E023703}">
                      <ahyp:hlinkClr val="tx"/>
                    </a:ext>
                  </a:extLst>
                </a:hlinkClick>
              </a:rPr>
              <a:t>ámbar</a:t>
            </a:r>
            <a:r>
              <a:rPr lang="es">
                <a:solidFill>
                  <a:srgbClr val="202122"/>
                </a:solidFill>
                <a:highlight>
                  <a:srgbClr val="FFFFFF"/>
                </a:highlight>
              </a:rPr>
              <a:t>’)​ es el conjunto de fenómenos físicos relacionados con la presencia y flujo de </a:t>
            </a:r>
            <a:r>
              <a:rPr lang="es">
                <a:solidFill>
                  <a:srgbClr val="0645AD"/>
                </a:solidFill>
                <a:highlight>
                  <a:srgbClr val="FFFFFF"/>
                </a:highlight>
                <a:uFill>
                  <a:noFill/>
                </a:uFill>
                <a:hlinkClick r:id="rId4">
                  <a:extLst>
                    <a:ext uri="{A12FA001-AC4F-418D-AE19-62706E023703}">
                      <ahyp:hlinkClr val="tx"/>
                    </a:ext>
                  </a:extLst>
                </a:hlinkClick>
              </a:rPr>
              <a:t>cargas eléctricas</a:t>
            </a:r>
            <a:r>
              <a:rPr lang="es">
                <a:solidFill>
                  <a:srgbClr val="202122"/>
                </a:solidFill>
                <a:highlight>
                  <a:srgbClr val="FFFFFF"/>
                </a:highlight>
              </a:rPr>
              <a:t>. </a:t>
            </a:r>
            <a:endParaRPr>
              <a:solidFill>
                <a:srgbClr val="202122"/>
              </a:solidFill>
              <a:highlight>
                <a:srgbClr val="FFFFFF"/>
              </a:highlight>
            </a:endParaRPr>
          </a:p>
          <a:p>
            <a:pPr indent="-342900" lvl="0" marL="457200" rtl="0" algn="l">
              <a:spcBef>
                <a:spcPts val="0"/>
              </a:spcBef>
              <a:spcAft>
                <a:spcPts val="0"/>
              </a:spcAft>
              <a:buSzPts val="1800"/>
              <a:buChar char="●"/>
            </a:pPr>
            <a:r>
              <a:rPr lang="es">
                <a:solidFill>
                  <a:srgbClr val="202122"/>
                </a:solidFill>
                <a:highlight>
                  <a:srgbClr val="FFFFFF"/>
                </a:highlight>
              </a:rPr>
              <a:t>En la naturaleza se manifiesta en una gran variedad de fenómenos como los </a:t>
            </a:r>
            <a:r>
              <a:rPr lang="es">
                <a:solidFill>
                  <a:srgbClr val="0645AD"/>
                </a:solidFill>
                <a:highlight>
                  <a:srgbClr val="FFFFFF"/>
                </a:highlight>
                <a:uFill>
                  <a:noFill/>
                </a:uFill>
                <a:hlinkClick r:id="rId5">
                  <a:extLst>
                    <a:ext uri="{A12FA001-AC4F-418D-AE19-62706E023703}">
                      <ahyp:hlinkClr val="tx"/>
                    </a:ext>
                  </a:extLst>
                </a:hlinkClick>
              </a:rPr>
              <a:t>rayos</a:t>
            </a:r>
            <a:r>
              <a:rPr lang="es">
                <a:solidFill>
                  <a:srgbClr val="202122"/>
                </a:solidFill>
                <a:highlight>
                  <a:srgbClr val="FFFFFF"/>
                </a:highlight>
              </a:rPr>
              <a:t>, la </a:t>
            </a:r>
            <a:r>
              <a:rPr lang="es">
                <a:solidFill>
                  <a:srgbClr val="0645AD"/>
                </a:solidFill>
                <a:highlight>
                  <a:srgbClr val="FFFFFF"/>
                </a:highlight>
                <a:uFill>
                  <a:noFill/>
                </a:uFill>
                <a:hlinkClick r:id="rId6">
                  <a:extLst>
                    <a:ext uri="{A12FA001-AC4F-418D-AE19-62706E023703}">
                      <ahyp:hlinkClr val="tx"/>
                    </a:ext>
                  </a:extLst>
                </a:hlinkClick>
              </a:rPr>
              <a:t>electricidad estática</a:t>
            </a:r>
            <a:r>
              <a:rPr lang="es">
                <a:solidFill>
                  <a:srgbClr val="202122"/>
                </a:solidFill>
                <a:highlight>
                  <a:srgbClr val="FFFFFF"/>
                </a:highlight>
              </a:rPr>
              <a:t>, la </a:t>
            </a:r>
            <a:r>
              <a:rPr lang="es">
                <a:solidFill>
                  <a:srgbClr val="0645AD"/>
                </a:solidFill>
                <a:highlight>
                  <a:srgbClr val="FFFFFF"/>
                </a:highlight>
                <a:uFill>
                  <a:noFill/>
                </a:uFill>
                <a:hlinkClick r:id="rId7">
                  <a:extLst>
                    <a:ext uri="{A12FA001-AC4F-418D-AE19-62706E023703}">
                      <ahyp:hlinkClr val="tx"/>
                    </a:ext>
                  </a:extLst>
                </a:hlinkClick>
              </a:rPr>
              <a:t>inducción electromagnética</a:t>
            </a:r>
            <a:r>
              <a:rPr lang="es">
                <a:solidFill>
                  <a:srgbClr val="202122"/>
                </a:solidFill>
                <a:highlight>
                  <a:srgbClr val="FFFFFF"/>
                </a:highlight>
              </a:rPr>
              <a:t> o el flujo de </a:t>
            </a:r>
            <a:r>
              <a:rPr lang="es">
                <a:solidFill>
                  <a:srgbClr val="0645AD"/>
                </a:solidFill>
                <a:highlight>
                  <a:srgbClr val="FFFFFF"/>
                </a:highlight>
                <a:uFill>
                  <a:noFill/>
                </a:uFill>
                <a:hlinkClick r:id="rId8">
                  <a:extLst>
                    <a:ext uri="{A12FA001-AC4F-418D-AE19-62706E023703}">
                      <ahyp:hlinkClr val="tx"/>
                    </a:ext>
                  </a:extLst>
                </a:hlinkClick>
              </a:rPr>
              <a:t>corriente eléctrica</a:t>
            </a:r>
            <a:r>
              <a:rPr lang="es">
                <a:solidFill>
                  <a:srgbClr val="202122"/>
                </a:solidFill>
                <a:highlight>
                  <a:srgbClr val="FFFFFF"/>
                </a:highlight>
              </a:rPr>
              <a:t>.</a:t>
            </a:r>
            <a:endParaRPr>
              <a:solidFill>
                <a:srgbClr val="202122"/>
              </a:solidFill>
              <a:highlight>
                <a:srgbClr val="FFFFFF"/>
              </a:highlight>
            </a:endParaRPr>
          </a:p>
        </p:txBody>
      </p:sp>
      <p:pic>
        <p:nvPicPr>
          <p:cNvPr id="153" name="Google Shape;153;p27"/>
          <p:cNvPicPr preferRelativeResize="0"/>
          <p:nvPr/>
        </p:nvPicPr>
        <p:blipFill>
          <a:blip r:embed="rId9">
            <a:alphaModFix/>
          </a:blip>
          <a:stretch>
            <a:fillRect/>
          </a:stretch>
        </p:blipFill>
        <p:spPr>
          <a:xfrm>
            <a:off x="2528649" y="2944100"/>
            <a:ext cx="4253850" cy="2199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idx="1" type="body"/>
          </p:nvPr>
        </p:nvSpPr>
        <p:spPr>
          <a:xfrm>
            <a:off x="311700" y="146575"/>
            <a:ext cx="8520600" cy="4836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E141A"/>
              </a:buClr>
              <a:buSzPts val="1600"/>
              <a:buChar char="●"/>
            </a:pPr>
            <a:r>
              <a:rPr b="1" lang="es" sz="1600">
                <a:solidFill>
                  <a:srgbClr val="0E141A"/>
                </a:solidFill>
                <a:highlight>
                  <a:srgbClr val="FFFFFF"/>
                </a:highlight>
                <a:latin typeface="Georgia"/>
                <a:ea typeface="Georgia"/>
                <a:cs typeface="Georgia"/>
                <a:sym typeface="Georgia"/>
              </a:rPr>
              <a:t>Corriente continua:</a:t>
            </a:r>
            <a:r>
              <a:rPr lang="es" sz="1600">
                <a:solidFill>
                  <a:srgbClr val="0E141A"/>
                </a:solidFill>
                <a:highlight>
                  <a:srgbClr val="FFFFFF"/>
                </a:highlight>
                <a:latin typeface="Georgia"/>
                <a:ea typeface="Georgia"/>
                <a:cs typeface="Georgia"/>
                <a:sym typeface="Georgia"/>
              </a:rPr>
              <a:t> no varía con el tiempo, ya que fluye de manera estable y en una sola dirección. Es la corriente de las pilas, baterías y transformadores.</a:t>
            </a:r>
            <a:endParaRPr sz="1600">
              <a:solidFill>
                <a:srgbClr val="0E141A"/>
              </a:solidFill>
              <a:highlight>
                <a:srgbClr val="FFFFFF"/>
              </a:highlight>
              <a:latin typeface="Georgia"/>
              <a:ea typeface="Georgia"/>
              <a:cs typeface="Georgia"/>
              <a:sym typeface="Georgia"/>
            </a:endParaRPr>
          </a:p>
          <a:p>
            <a:pPr indent="-330200" lvl="0" marL="457200" rtl="0" algn="l">
              <a:spcBef>
                <a:spcPts val="0"/>
              </a:spcBef>
              <a:spcAft>
                <a:spcPts val="0"/>
              </a:spcAft>
              <a:buClr>
                <a:srgbClr val="0E141A"/>
              </a:buClr>
              <a:buSzPts val="1600"/>
              <a:buChar char="●"/>
            </a:pPr>
            <a:r>
              <a:rPr b="1" lang="es" sz="1600">
                <a:solidFill>
                  <a:srgbClr val="0E141A"/>
                </a:solidFill>
                <a:highlight>
                  <a:srgbClr val="FFFFFF"/>
                </a:highlight>
                <a:latin typeface="Georgia"/>
                <a:ea typeface="Georgia"/>
                <a:cs typeface="Georgia"/>
                <a:sym typeface="Georgia"/>
              </a:rPr>
              <a:t>Corriente alterna:</a:t>
            </a:r>
            <a:r>
              <a:rPr lang="es" sz="1600">
                <a:solidFill>
                  <a:srgbClr val="0E141A"/>
                </a:solidFill>
                <a:highlight>
                  <a:srgbClr val="FFFFFF"/>
                </a:highlight>
                <a:latin typeface="Georgia"/>
                <a:ea typeface="Georgia"/>
                <a:cs typeface="Georgia"/>
                <a:sym typeface="Georgia"/>
              </a:rPr>
              <a:t> fluye de manera cíclica, fluctuando su magnitud y su dirección en intervalos regulares. Es la corriente que va por las líneas eléctricas y que llega a los enchufes de las casas.</a:t>
            </a:r>
            <a:endParaRPr sz="1600">
              <a:solidFill>
                <a:srgbClr val="0E141A"/>
              </a:solidFill>
              <a:highlight>
                <a:srgbClr val="FFFFFF"/>
              </a:highlight>
              <a:latin typeface="Georgia"/>
              <a:ea typeface="Georgia"/>
              <a:cs typeface="Georgia"/>
              <a:sym typeface="Georgia"/>
            </a:endParaRPr>
          </a:p>
          <a:p>
            <a:pPr indent="0" lvl="0" marL="0" rtl="0" algn="l">
              <a:lnSpc>
                <a:spcPct val="150000"/>
              </a:lnSpc>
              <a:spcBef>
                <a:spcPts val="2400"/>
              </a:spcBef>
              <a:spcAft>
                <a:spcPts val="0"/>
              </a:spcAft>
              <a:buClr>
                <a:schemeClr val="dk1"/>
              </a:buClr>
              <a:buSzPts val="1100"/>
              <a:buFont typeface="Arial"/>
              <a:buNone/>
            </a:pPr>
            <a:r>
              <a:rPr lang="es" sz="1600">
                <a:solidFill>
                  <a:srgbClr val="0E141A"/>
                </a:solidFill>
                <a:highlight>
                  <a:srgbClr val="FFFFFF"/>
                </a:highlight>
                <a:latin typeface="Georgia"/>
                <a:ea typeface="Georgia"/>
                <a:cs typeface="Georgia"/>
                <a:sym typeface="Georgia"/>
              </a:rPr>
              <a:t>La principal ventaja de la corriente continua es que resulta, por lo general, más segura que la corriente alterna. Necesita menos aislamiento y se pueden usar voltajes más bajos. Además tiene la ventaja de que puede almacenarse en baterías.</a:t>
            </a:r>
            <a:endParaRPr sz="1600">
              <a:solidFill>
                <a:srgbClr val="0E141A"/>
              </a:solidFill>
              <a:highlight>
                <a:srgbClr val="FFFFFF"/>
              </a:highlight>
              <a:latin typeface="Georgia"/>
              <a:ea typeface="Georgia"/>
              <a:cs typeface="Georgia"/>
              <a:sym typeface="Georgia"/>
            </a:endParaRPr>
          </a:p>
          <a:p>
            <a:pPr indent="0" lvl="0" marL="0" rtl="0" algn="l">
              <a:lnSpc>
                <a:spcPct val="122222"/>
              </a:lnSpc>
              <a:spcBef>
                <a:spcPts val="1600"/>
              </a:spcBef>
              <a:spcAft>
                <a:spcPts val="0"/>
              </a:spcAft>
              <a:buNone/>
            </a:pPr>
            <a:r>
              <a:rPr lang="es" sz="1600">
                <a:solidFill>
                  <a:srgbClr val="0E141A"/>
                </a:solidFill>
                <a:highlight>
                  <a:srgbClr val="FFFFFF"/>
                </a:highlight>
                <a:latin typeface="Georgia"/>
                <a:ea typeface="Georgia"/>
                <a:cs typeface="Georgia"/>
                <a:sym typeface="Georgia"/>
              </a:rPr>
              <a:t>“La corriente continua resulta más segura, pero la corriente alterna es más eficiente a la hora de transportarla y transformarla.”</a:t>
            </a:r>
            <a:endParaRPr sz="1600"/>
          </a:p>
        </p:txBody>
      </p:sp>
      <p:pic>
        <p:nvPicPr>
          <p:cNvPr id="159" name="Google Shape;159;p28"/>
          <p:cNvPicPr preferRelativeResize="0"/>
          <p:nvPr/>
        </p:nvPicPr>
        <p:blipFill rotWithShape="1">
          <a:blip r:embed="rId3">
            <a:alphaModFix/>
          </a:blip>
          <a:srcRect b="8559" l="0" r="0" t="0"/>
          <a:stretch/>
        </p:blipFill>
        <p:spPr>
          <a:xfrm>
            <a:off x="3750" y="220213"/>
            <a:ext cx="9136500" cy="4703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5" name="Google Shape;16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6" name="Google Shape;166;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30"/>
          <p:cNvPicPr preferRelativeResize="0"/>
          <p:nvPr/>
        </p:nvPicPr>
        <p:blipFill>
          <a:blip r:embed="rId3">
            <a:alphaModFix/>
          </a:blip>
          <a:stretch>
            <a:fillRect/>
          </a:stretch>
        </p:blipFill>
        <p:spPr>
          <a:xfrm>
            <a:off x="2580968" y="0"/>
            <a:ext cx="3982065" cy="5143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Corriente Continua en Electr</a:t>
            </a:r>
            <a:r>
              <a:rPr b="1" lang="es"/>
              <a:t>ónica </a:t>
            </a:r>
            <a:r>
              <a:rPr b="1" lang="es"/>
              <a:t>y Arduino</a:t>
            </a:r>
            <a:endParaRPr b="1"/>
          </a:p>
        </p:txBody>
      </p:sp>
      <p:sp>
        <p:nvSpPr>
          <p:cNvPr id="177" name="Google Shape;17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Arduino usa DC porque sus circuitos trabajan con:</a:t>
            </a:r>
            <a:endParaRPr/>
          </a:p>
          <a:p>
            <a:pPr indent="-342900" lvl="0" marL="457200" rtl="0" algn="l">
              <a:spcBef>
                <a:spcPts val="1200"/>
              </a:spcBef>
              <a:spcAft>
                <a:spcPts val="0"/>
              </a:spcAft>
              <a:buSzPts val="1800"/>
              <a:buChar char="-"/>
            </a:pPr>
            <a:r>
              <a:rPr b="1" lang="es"/>
              <a:t>Voltaje bajo, estable y seguro</a:t>
            </a:r>
            <a:r>
              <a:rPr lang="es"/>
              <a:t>.</a:t>
            </a:r>
            <a:endParaRPr/>
          </a:p>
          <a:p>
            <a:pPr indent="-342900" lvl="0" marL="457200" rtl="0" algn="l">
              <a:spcBef>
                <a:spcPts val="0"/>
              </a:spcBef>
              <a:spcAft>
                <a:spcPts val="0"/>
              </a:spcAft>
              <a:buSzPts val="1800"/>
              <a:buChar char="-"/>
            </a:pPr>
            <a:r>
              <a:rPr lang="es"/>
              <a:t>Lógica de funcionamiento 0 y 1, 0v y 5v.</a:t>
            </a:r>
            <a:endParaRPr/>
          </a:p>
          <a:p>
            <a:pPr indent="-342900" lvl="0" marL="457200" rtl="0" algn="l">
              <a:spcBef>
                <a:spcPts val="0"/>
              </a:spcBef>
              <a:spcAft>
                <a:spcPts val="0"/>
              </a:spcAft>
              <a:buSzPts val="1800"/>
              <a:buChar char="-"/>
            </a:pPr>
            <a:r>
              <a:rPr lang="es"/>
              <a:t>Porque es </a:t>
            </a:r>
            <a:r>
              <a:rPr b="1" lang="es"/>
              <a:t>almacenable / transportable.</a:t>
            </a:r>
            <a:r>
              <a:rPr lang="es"/>
              <a:t> </a:t>
            </a:r>
            <a:endParaRPr/>
          </a:p>
          <a:p>
            <a:pPr indent="-342900" lvl="0" marL="457200" rtl="0" algn="l">
              <a:spcBef>
                <a:spcPts val="0"/>
              </a:spcBef>
              <a:spcAft>
                <a:spcPts val="0"/>
              </a:spcAft>
              <a:buSzPts val="1800"/>
              <a:buChar char="-"/>
            </a:pPr>
            <a:r>
              <a:rPr lang="es"/>
              <a:t>Comodidad</a:t>
            </a:r>
            <a:r>
              <a:rPr b="1" lang="es"/>
              <a:t> USB.</a:t>
            </a:r>
            <a:endParaRPr b="1"/>
          </a:p>
        </p:txBody>
      </p:sp>
      <p:pic>
        <p:nvPicPr>
          <p:cNvPr id="178" name="Google Shape;178;p31"/>
          <p:cNvPicPr preferRelativeResize="0"/>
          <p:nvPr/>
        </p:nvPicPr>
        <p:blipFill>
          <a:blip r:embed="rId3">
            <a:alphaModFix/>
          </a:blip>
          <a:stretch>
            <a:fillRect/>
          </a:stretch>
        </p:blipFill>
        <p:spPr>
          <a:xfrm>
            <a:off x="5009317" y="1727100"/>
            <a:ext cx="4134684" cy="3416400"/>
          </a:xfrm>
          <a:prstGeom prst="rect">
            <a:avLst/>
          </a:prstGeom>
          <a:noFill/>
          <a:ln>
            <a:noFill/>
          </a:ln>
        </p:spPr>
      </p:pic>
      <p:cxnSp>
        <p:nvCxnSpPr>
          <p:cNvPr id="179" name="Google Shape;179;p31"/>
          <p:cNvCxnSpPr/>
          <p:nvPr/>
        </p:nvCxnSpPr>
        <p:spPr>
          <a:xfrm flipH="1" rot="10800000">
            <a:off x="1636675" y="4117725"/>
            <a:ext cx="644100" cy="13500"/>
          </a:xfrm>
          <a:prstGeom prst="straightConnector1">
            <a:avLst/>
          </a:prstGeom>
          <a:noFill/>
          <a:ln cap="flat" cmpd="sng" w="38100">
            <a:solidFill>
              <a:srgbClr val="FF0000"/>
            </a:solidFill>
            <a:prstDash val="solid"/>
            <a:round/>
            <a:headEnd len="med" w="med" type="none"/>
            <a:tailEnd len="med" w="med" type="triangle"/>
          </a:ln>
        </p:spPr>
      </p:cxnSp>
      <p:cxnSp>
        <p:nvCxnSpPr>
          <p:cNvPr id="180" name="Google Shape;180;p31"/>
          <p:cNvCxnSpPr/>
          <p:nvPr/>
        </p:nvCxnSpPr>
        <p:spPr>
          <a:xfrm flipH="1" rot="10800000">
            <a:off x="1636675" y="4579413"/>
            <a:ext cx="644100" cy="13500"/>
          </a:xfrm>
          <a:prstGeom prst="straightConnector1">
            <a:avLst/>
          </a:prstGeom>
          <a:noFill/>
          <a:ln cap="flat" cmpd="sng" w="38100">
            <a:solidFill>
              <a:schemeClr val="dk1"/>
            </a:solidFill>
            <a:prstDash val="solid"/>
            <a:round/>
            <a:headEnd len="med" w="med" type="none"/>
            <a:tailEnd len="med" w="med" type="triangle"/>
          </a:ln>
        </p:spPr>
      </p:cxnSp>
      <p:sp>
        <p:nvSpPr>
          <p:cNvPr id="181" name="Google Shape;181;p31"/>
          <p:cNvSpPr txBox="1"/>
          <p:nvPr/>
        </p:nvSpPr>
        <p:spPr>
          <a:xfrm>
            <a:off x="2468425" y="3893625"/>
            <a:ext cx="103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+ 5v</a:t>
            </a:r>
            <a:endParaRPr b="1" sz="1800">
              <a:solidFill>
                <a:schemeClr val="dk2"/>
              </a:solidFill>
            </a:endParaRPr>
          </a:p>
        </p:txBody>
      </p:sp>
      <p:sp>
        <p:nvSpPr>
          <p:cNvPr id="182" name="Google Shape;182;p31"/>
          <p:cNvSpPr txBox="1"/>
          <p:nvPr/>
        </p:nvSpPr>
        <p:spPr>
          <a:xfrm>
            <a:off x="2468425" y="4355325"/>
            <a:ext cx="103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 GND</a:t>
            </a:r>
            <a:endParaRPr b="1"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311700" y="1385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Arduino</a:t>
            </a:r>
            <a:endParaRPr b="1"/>
          </a:p>
        </p:txBody>
      </p:sp>
      <p:sp>
        <p:nvSpPr>
          <p:cNvPr id="188" name="Google Shape;188;p32"/>
          <p:cNvSpPr txBox="1"/>
          <p:nvPr>
            <p:ph idx="1" type="body"/>
          </p:nvPr>
        </p:nvSpPr>
        <p:spPr>
          <a:xfrm>
            <a:off x="311700" y="635050"/>
            <a:ext cx="8520600" cy="422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solidFill>
                  <a:srgbClr val="202122"/>
                </a:solidFill>
                <a:highlight>
                  <a:srgbClr val="FFFFFF"/>
                </a:highlight>
              </a:rPr>
              <a:t>Arduino</a:t>
            </a:r>
            <a:r>
              <a:rPr lang="es">
                <a:solidFill>
                  <a:srgbClr val="202122"/>
                </a:solidFill>
                <a:highlight>
                  <a:srgbClr val="FFFFFF"/>
                </a:highlight>
              </a:rPr>
              <a:t> es una compañía de desarrollo de </a:t>
            </a:r>
            <a:r>
              <a:rPr b="1" lang="es">
                <a:solidFill>
                  <a:srgbClr val="202122"/>
                </a:solidFill>
                <a:highlight>
                  <a:srgbClr val="FFFFFF"/>
                </a:highlight>
              </a:rPr>
              <a:t>software y hardware libres</a:t>
            </a:r>
            <a:r>
              <a:rPr lang="es">
                <a:solidFill>
                  <a:srgbClr val="202122"/>
                </a:solidFill>
                <a:highlight>
                  <a:srgbClr val="FFFFFF"/>
                </a:highlight>
              </a:rPr>
              <a:t>, así como una </a:t>
            </a:r>
            <a:r>
              <a:rPr b="1" lang="es">
                <a:solidFill>
                  <a:srgbClr val="202122"/>
                </a:solidFill>
                <a:highlight>
                  <a:srgbClr val="FFFFFF"/>
                </a:highlight>
              </a:rPr>
              <a:t>comunidad internacional</a:t>
            </a:r>
            <a:r>
              <a:rPr lang="es">
                <a:solidFill>
                  <a:srgbClr val="202122"/>
                </a:solidFill>
                <a:highlight>
                  <a:srgbClr val="FFFFFF"/>
                </a:highlight>
              </a:rPr>
              <a:t> que diseña y manufactura </a:t>
            </a:r>
            <a:r>
              <a:rPr lang="es">
                <a:solidFill>
                  <a:srgbClr val="202122"/>
                </a:solidFill>
                <a:highlight>
                  <a:srgbClr val="FFFFFF"/>
                </a:highlight>
                <a:uFill>
                  <a:noFill/>
                </a:uFill>
                <a:hlinkClick r:id="rId3">
                  <a:extLst>
                    <a:ext uri="{A12FA001-AC4F-418D-AE19-62706E023703}">
                      <ahyp:hlinkClr val="tx"/>
                    </a:ext>
                  </a:extLst>
                </a:hlinkClick>
              </a:rPr>
              <a:t>placas de desarrollo de hardware</a:t>
            </a:r>
            <a:r>
              <a:rPr lang="es">
                <a:solidFill>
                  <a:srgbClr val="202122"/>
                </a:solidFill>
                <a:highlight>
                  <a:srgbClr val="FFFFFF"/>
                </a:highlight>
              </a:rPr>
              <a:t> para </a:t>
            </a:r>
            <a:r>
              <a:rPr b="1" lang="es">
                <a:solidFill>
                  <a:srgbClr val="202122"/>
                </a:solidFill>
                <a:highlight>
                  <a:srgbClr val="FFFFFF"/>
                </a:highlight>
              </a:rPr>
              <a:t>construir dispositivos digitales</a:t>
            </a:r>
            <a:r>
              <a:rPr lang="es">
                <a:solidFill>
                  <a:srgbClr val="202122"/>
                </a:solidFill>
                <a:highlight>
                  <a:srgbClr val="FFFFFF"/>
                </a:highlight>
              </a:rPr>
              <a:t> que puedan detectar y controlar objetos del mundo real. </a:t>
            </a:r>
            <a:endParaRPr>
              <a:solidFill>
                <a:srgbClr val="202122"/>
              </a:solidFill>
              <a:highlight>
                <a:srgbClr val="FFFFFF"/>
              </a:highlight>
            </a:endParaRPr>
          </a:p>
          <a:p>
            <a:pPr indent="0" lvl="0" marL="0" rtl="0" algn="l">
              <a:spcBef>
                <a:spcPts val="1200"/>
              </a:spcBef>
              <a:spcAft>
                <a:spcPts val="0"/>
              </a:spcAft>
              <a:buNone/>
            </a:pPr>
            <a:r>
              <a:t/>
            </a:r>
            <a:endParaRPr>
              <a:solidFill>
                <a:srgbClr val="202122"/>
              </a:solidFill>
              <a:highlight>
                <a:srgbClr val="FFFFFF"/>
              </a:highlight>
            </a:endParaRPr>
          </a:p>
          <a:p>
            <a:pPr indent="0" lvl="0" marL="0" rtl="0" algn="l">
              <a:spcBef>
                <a:spcPts val="1200"/>
              </a:spcBef>
              <a:spcAft>
                <a:spcPts val="0"/>
              </a:spcAft>
              <a:buNone/>
            </a:pPr>
            <a:r>
              <a:t/>
            </a:r>
            <a:endParaRPr>
              <a:solidFill>
                <a:srgbClr val="202122"/>
              </a:solidFill>
              <a:highlight>
                <a:srgbClr val="FFFFFF"/>
              </a:highlight>
            </a:endParaRPr>
          </a:p>
          <a:p>
            <a:pPr indent="0" lvl="0" marL="0" rtl="0" algn="l">
              <a:spcBef>
                <a:spcPts val="1200"/>
              </a:spcBef>
              <a:spcAft>
                <a:spcPts val="0"/>
              </a:spcAft>
              <a:buNone/>
            </a:pPr>
            <a:r>
              <a:t/>
            </a:r>
            <a:endParaRPr>
              <a:solidFill>
                <a:srgbClr val="202122"/>
              </a:solidFill>
              <a:highlight>
                <a:srgbClr val="FFFFFF"/>
              </a:highlight>
            </a:endParaRPr>
          </a:p>
          <a:p>
            <a:pPr indent="0" lvl="0" marL="0" rtl="0" algn="l">
              <a:spcBef>
                <a:spcPts val="1200"/>
              </a:spcBef>
              <a:spcAft>
                <a:spcPts val="0"/>
              </a:spcAft>
              <a:buNone/>
            </a:pPr>
            <a:r>
              <a:t/>
            </a:r>
            <a:endParaRPr>
              <a:solidFill>
                <a:srgbClr val="202122"/>
              </a:solidFill>
              <a:highlight>
                <a:srgbClr val="FFFFFF"/>
              </a:highlight>
            </a:endParaRPr>
          </a:p>
          <a:p>
            <a:pPr indent="0" lvl="0" marL="0" rtl="0" algn="l">
              <a:spcBef>
                <a:spcPts val="1200"/>
              </a:spcBef>
              <a:spcAft>
                <a:spcPts val="1200"/>
              </a:spcAft>
              <a:buNone/>
            </a:pPr>
            <a:r>
              <a:t/>
            </a:r>
            <a:endParaRPr>
              <a:solidFill>
                <a:srgbClr val="202122"/>
              </a:solidFill>
              <a:highlight>
                <a:srgbClr val="FFFFFF"/>
              </a:highlight>
            </a:endParaRPr>
          </a:p>
        </p:txBody>
      </p:sp>
      <p:pic>
        <p:nvPicPr>
          <p:cNvPr id="189" name="Google Shape;189;p32"/>
          <p:cNvPicPr preferRelativeResize="0"/>
          <p:nvPr/>
        </p:nvPicPr>
        <p:blipFill>
          <a:blip r:embed="rId4">
            <a:alphaModFix/>
          </a:blip>
          <a:stretch>
            <a:fillRect/>
          </a:stretch>
        </p:blipFill>
        <p:spPr>
          <a:xfrm>
            <a:off x="459276" y="2259025"/>
            <a:ext cx="3001200" cy="2602725"/>
          </a:xfrm>
          <a:prstGeom prst="rect">
            <a:avLst/>
          </a:prstGeom>
          <a:noFill/>
          <a:ln>
            <a:noFill/>
          </a:ln>
        </p:spPr>
      </p:pic>
      <p:pic>
        <p:nvPicPr>
          <p:cNvPr id="190" name="Google Shape;190;p32"/>
          <p:cNvPicPr preferRelativeResize="0"/>
          <p:nvPr/>
        </p:nvPicPr>
        <p:blipFill>
          <a:blip r:embed="rId5">
            <a:alphaModFix/>
          </a:blip>
          <a:stretch>
            <a:fillRect/>
          </a:stretch>
        </p:blipFill>
        <p:spPr>
          <a:xfrm>
            <a:off x="4572000" y="2259024"/>
            <a:ext cx="3830702" cy="2602725"/>
          </a:xfrm>
          <a:prstGeom prst="rect">
            <a:avLst/>
          </a:prstGeom>
          <a:noFill/>
          <a:ln>
            <a:noFill/>
          </a:ln>
        </p:spPr>
      </p:pic>
      <p:sp>
        <p:nvSpPr>
          <p:cNvPr id="191" name="Google Shape;191;p32"/>
          <p:cNvSpPr txBox="1"/>
          <p:nvPr/>
        </p:nvSpPr>
        <p:spPr>
          <a:xfrm>
            <a:off x="201225" y="2341050"/>
            <a:ext cx="17307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Placa Arduino UNO</a:t>
            </a:r>
            <a:endParaRPr>
              <a:solidFill>
                <a:schemeClr val="dk2"/>
              </a:solidFill>
            </a:endParaRPr>
          </a:p>
        </p:txBody>
      </p:sp>
      <p:sp>
        <p:nvSpPr>
          <p:cNvPr id="192" name="Google Shape;192;p32"/>
          <p:cNvSpPr txBox="1"/>
          <p:nvPr/>
        </p:nvSpPr>
        <p:spPr>
          <a:xfrm>
            <a:off x="3460475" y="4588168"/>
            <a:ext cx="17307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Arduino IDE</a:t>
            </a:r>
            <a:endParaRPr>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3" title="473622320_18483335806006890_2553455481664461280_n.jpg"/>
          <p:cNvPicPr preferRelativeResize="0"/>
          <p:nvPr/>
        </p:nvPicPr>
        <p:blipFill>
          <a:blip r:embed="rId3">
            <a:alphaModFix/>
          </a:blip>
          <a:stretch>
            <a:fillRect/>
          </a:stretch>
        </p:blipFill>
        <p:spPr>
          <a:xfrm>
            <a:off x="2412269" y="0"/>
            <a:ext cx="4128563" cy="51435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a:t>
            </a:r>
            <a:r>
              <a:rPr lang="es"/>
              <a:t>Al principio, había transistores, sensores ambientales rudimentarios alojados en cajas de madera, y lápiz y papel para registrar los datos. Hoy en día, programamos microcontroladores y fabricamos nuestros propios sensores ambientales para transmitir un torrente de datos en tiempo real a portales web para que el mundo los vea — ¡por una fracción del costo de aquellas cajas de madera!”</a:t>
            </a:r>
            <a:endParaRPr/>
          </a:p>
          <a:p>
            <a:pPr indent="0" lvl="0" marL="0" rtl="0" algn="ctr">
              <a:spcBef>
                <a:spcPts val="1200"/>
              </a:spcBef>
              <a:spcAft>
                <a:spcPts val="0"/>
              </a:spcAft>
              <a:buNone/>
            </a:pPr>
            <a:r>
              <a:t/>
            </a:r>
            <a:endParaRPr/>
          </a:p>
          <a:p>
            <a:pPr indent="0" lvl="0" marL="0" rtl="0" algn="ctr">
              <a:lnSpc>
                <a:spcPct val="100000"/>
              </a:lnSpc>
              <a:spcBef>
                <a:spcPts val="1200"/>
              </a:spcBef>
              <a:spcAft>
                <a:spcPts val="0"/>
              </a:spcAft>
              <a:buClr>
                <a:schemeClr val="dk1"/>
              </a:buClr>
              <a:buSzPts val="1100"/>
              <a:buFont typeface="Arial"/>
              <a:buNone/>
            </a:pPr>
            <a:r>
              <a:rPr lang="es" u="sng">
                <a:solidFill>
                  <a:srgbClr val="2200CC"/>
                </a:solidFill>
                <a:hlinkClick r:id="rId3">
                  <a:extLst>
                    <a:ext uri="{A12FA001-AC4F-418D-AE19-62706E023703}">
                      <ahyp:hlinkClr val="tx"/>
                    </a:ext>
                  </a:extLst>
                </a:hlinkClick>
              </a:rPr>
              <a:t>https://www.envirodiy.org/wide-wide-world-of-diy-and-dit/</a:t>
            </a:r>
            <a:r>
              <a:rPr lang="es">
                <a:solidFill>
                  <a:schemeClr val="dk1"/>
                </a:solidFill>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Sensores</a:t>
            </a:r>
            <a:endParaRPr b="1"/>
          </a:p>
        </p:txBody>
      </p:sp>
      <p:sp>
        <p:nvSpPr>
          <p:cNvPr id="208" name="Google Shape;208;p35"/>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None/>
            </a:pPr>
            <a:r>
              <a:rPr lang="es">
                <a:solidFill>
                  <a:srgbClr val="202122"/>
                </a:solidFill>
                <a:highlight>
                  <a:srgbClr val="FFFFFF"/>
                </a:highlight>
              </a:rPr>
              <a:t>Un sensor es un dispositivo electrónico que </a:t>
            </a:r>
            <a:r>
              <a:rPr b="1" lang="es">
                <a:solidFill>
                  <a:srgbClr val="202122"/>
                </a:solidFill>
                <a:highlight>
                  <a:srgbClr val="FFFFFF"/>
                </a:highlight>
              </a:rPr>
              <a:t>recoge datos analógicos del mundo real y los transforma en datos digitales</a:t>
            </a:r>
            <a:r>
              <a:rPr lang="es">
                <a:solidFill>
                  <a:srgbClr val="202122"/>
                </a:solidFill>
                <a:highlight>
                  <a:srgbClr val="FFFFFF"/>
                </a:highlight>
              </a:rPr>
              <a:t> con los que alimenta de información a Arduino. </a:t>
            </a:r>
            <a:endParaRPr sz="1100">
              <a:solidFill>
                <a:schemeClr val="dk1"/>
              </a:solidFill>
            </a:endParaRPr>
          </a:p>
          <a:p>
            <a:pPr indent="0" lvl="0" marL="0" rtl="0" algn="l">
              <a:spcBef>
                <a:spcPts val="1200"/>
              </a:spcBef>
              <a:spcAft>
                <a:spcPts val="1200"/>
              </a:spcAft>
              <a:buNone/>
            </a:pPr>
            <a:r>
              <a:t/>
            </a:r>
            <a:endParaRPr/>
          </a:p>
        </p:txBody>
      </p:sp>
      <p:pic>
        <p:nvPicPr>
          <p:cNvPr id="209" name="Google Shape;209;p35"/>
          <p:cNvPicPr preferRelativeResize="0"/>
          <p:nvPr/>
        </p:nvPicPr>
        <p:blipFill>
          <a:blip r:embed="rId3">
            <a:alphaModFix/>
          </a:blip>
          <a:stretch>
            <a:fillRect/>
          </a:stretch>
        </p:blipFill>
        <p:spPr>
          <a:xfrm>
            <a:off x="4473841" y="2288625"/>
            <a:ext cx="4192982" cy="2358526"/>
          </a:xfrm>
          <a:prstGeom prst="rect">
            <a:avLst/>
          </a:prstGeom>
          <a:noFill/>
          <a:ln>
            <a:noFill/>
          </a:ln>
        </p:spPr>
      </p:pic>
      <p:pic>
        <p:nvPicPr>
          <p:cNvPr id="210" name="Google Shape;210;p35"/>
          <p:cNvPicPr preferRelativeResize="0"/>
          <p:nvPr/>
        </p:nvPicPr>
        <p:blipFill rotWithShape="1">
          <a:blip r:embed="rId4">
            <a:alphaModFix/>
          </a:blip>
          <a:srcRect b="0" l="3596" r="0" t="0"/>
          <a:stretch/>
        </p:blipFill>
        <p:spPr>
          <a:xfrm>
            <a:off x="94375" y="2288625"/>
            <a:ext cx="4477626" cy="2358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Actuadores</a:t>
            </a:r>
            <a:endParaRPr b="1"/>
          </a:p>
        </p:txBody>
      </p:sp>
      <p:sp>
        <p:nvSpPr>
          <p:cNvPr id="216" name="Google Shape;216;p36"/>
          <p:cNvSpPr txBox="1"/>
          <p:nvPr>
            <p:ph idx="1" type="body"/>
          </p:nvPr>
        </p:nvSpPr>
        <p:spPr>
          <a:xfrm>
            <a:off x="0" y="946075"/>
            <a:ext cx="9144000" cy="41973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None/>
            </a:pPr>
            <a:r>
              <a:rPr lang="es">
                <a:solidFill>
                  <a:srgbClr val="202122"/>
                </a:solidFill>
                <a:highlight>
                  <a:srgbClr val="FFFFFF"/>
                </a:highlight>
              </a:rPr>
              <a:t>Un actuador es un dispositivo que r</a:t>
            </a:r>
            <a:r>
              <a:rPr b="1" lang="es">
                <a:solidFill>
                  <a:srgbClr val="202122"/>
                </a:solidFill>
                <a:highlight>
                  <a:srgbClr val="FFFFFF"/>
                </a:highlight>
              </a:rPr>
              <a:t>ecibe señales digitales de Arduino y las transforma en acción física</a:t>
            </a:r>
            <a:r>
              <a:rPr lang="es">
                <a:solidFill>
                  <a:srgbClr val="202122"/>
                </a:solidFill>
                <a:highlight>
                  <a:srgbClr val="FFFFFF"/>
                </a:highlight>
              </a:rPr>
              <a:t> sobre un elemento externo del mundo real.</a:t>
            </a:r>
            <a:br>
              <a:rPr lang="es">
                <a:solidFill>
                  <a:srgbClr val="202122"/>
                </a:solidFill>
                <a:highlight>
                  <a:srgbClr val="FFFFFF"/>
                </a:highlight>
              </a:rPr>
            </a:br>
            <a:endParaRPr>
              <a:solidFill>
                <a:srgbClr val="202122"/>
              </a:solidFill>
              <a:highlight>
                <a:srgbClr val="FFFFFF"/>
              </a:highlight>
            </a:endParaRPr>
          </a:p>
          <a:p>
            <a:pPr indent="0" lvl="0" marL="0" marR="0" rtl="0" algn="l">
              <a:lnSpc>
                <a:spcPct val="115000"/>
              </a:lnSpc>
              <a:spcBef>
                <a:spcPts val="1200"/>
              </a:spcBef>
              <a:spcAft>
                <a:spcPts val="1200"/>
              </a:spcAft>
              <a:buNone/>
            </a:pPr>
            <a:r>
              <a:t/>
            </a:r>
            <a:endParaRPr/>
          </a:p>
        </p:txBody>
      </p:sp>
      <p:pic>
        <p:nvPicPr>
          <p:cNvPr id="217" name="Google Shape;217;p36"/>
          <p:cNvPicPr preferRelativeResize="0"/>
          <p:nvPr/>
        </p:nvPicPr>
        <p:blipFill>
          <a:blip r:embed="rId3">
            <a:alphaModFix/>
          </a:blip>
          <a:stretch>
            <a:fillRect/>
          </a:stretch>
        </p:blipFill>
        <p:spPr>
          <a:xfrm>
            <a:off x="2670613" y="1944200"/>
            <a:ext cx="3802776" cy="28540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Sensores y Actuadores: </a:t>
            </a:r>
            <a:r>
              <a:rPr b="1" lang="es"/>
              <a:t>Energ</a:t>
            </a:r>
            <a:r>
              <a:rPr b="1" lang="es"/>
              <a:t>ía y Data </a:t>
            </a:r>
            <a:endParaRPr b="1"/>
          </a:p>
        </p:txBody>
      </p:sp>
      <p:pic>
        <p:nvPicPr>
          <p:cNvPr id="223" name="Google Shape;223;p37"/>
          <p:cNvPicPr preferRelativeResize="0"/>
          <p:nvPr/>
        </p:nvPicPr>
        <p:blipFill>
          <a:blip r:embed="rId3">
            <a:alphaModFix/>
          </a:blip>
          <a:stretch>
            <a:fillRect/>
          </a:stretch>
        </p:blipFill>
        <p:spPr>
          <a:xfrm>
            <a:off x="2576488" y="1073828"/>
            <a:ext cx="3991026" cy="3991026"/>
          </a:xfrm>
          <a:prstGeom prst="rect">
            <a:avLst/>
          </a:prstGeom>
          <a:noFill/>
          <a:ln>
            <a:noFill/>
          </a:ln>
        </p:spPr>
      </p:pic>
      <p:cxnSp>
        <p:nvCxnSpPr>
          <p:cNvPr id="224" name="Google Shape;224;p37"/>
          <p:cNvCxnSpPr/>
          <p:nvPr/>
        </p:nvCxnSpPr>
        <p:spPr>
          <a:xfrm flipH="1">
            <a:off x="1650225" y="2213425"/>
            <a:ext cx="1806000" cy="107400"/>
          </a:xfrm>
          <a:prstGeom prst="straightConnector1">
            <a:avLst/>
          </a:prstGeom>
          <a:noFill/>
          <a:ln cap="flat" cmpd="sng" w="9525">
            <a:solidFill>
              <a:schemeClr val="dk2"/>
            </a:solidFill>
            <a:prstDash val="solid"/>
            <a:round/>
            <a:headEnd len="med" w="med" type="none"/>
            <a:tailEnd len="med" w="med" type="triangle"/>
          </a:ln>
        </p:spPr>
      </p:cxnSp>
      <p:cxnSp>
        <p:nvCxnSpPr>
          <p:cNvPr id="225" name="Google Shape;225;p37"/>
          <p:cNvCxnSpPr/>
          <p:nvPr/>
        </p:nvCxnSpPr>
        <p:spPr>
          <a:xfrm flipH="1">
            <a:off x="1669025" y="1741725"/>
            <a:ext cx="1052400" cy="353700"/>
          </a:xfrm>
          <a:prstGeom prst="straightConnector1">
            <a:avLst/>
          </a:prstGeom>
          <a:noFill/>
          <a:ln cap="flat" cmpd="sng" w="9525">
            <a:solidFill>
              <a:schemeClr val="dk2"/>
            </a:solidFill>
            <a:prstDash val="solid"/>
            <a:round/>
            <a:headEnd len="med" w="med" type="none"/>
            <a:tailEnd len="med" w="med" type="triangle"/>
          </a:ln>
        </p:spPr>
      </p:cxnSp>
      <p:cxnSp>
        <p:nvCxnSpPr>
          <p:cNvPr id="226" name="Google Shape;226;p37"/>
          <p:cNvCxnSpPr>
            <a:endCxn id="227" idx="3"/>
          </p:cNvCxnSpPr>
          <p:nvPr/>
        </p:nvCxnSpPr>
        <p:spPr>
          <a:xfrm rot="10800000">
            <a:off x="1669025" y="2433475"/>
            <a:ext cx="1877700" cy="911700"/>
          </a:xfrm>
          <a:prstGeom prst="straightConnector1">
            <a:avLst/>
          </a:prstGeom>
          <a:noFill/>
          <a:ln cap="flat" cmpd="sng" w="9525">
            <a:solidFill>
              <a:schemeClr val="dk2"/>
            </a:solidFill>
            <a:prstDash val="solid"/>
            <a:round/>
            <a:headEnd len="med" w="med" type="none"/>
            <a:tailEnd len="med" w="med" type="triangle"/>
          </a:ln>
        </p:spPr>
      </p:cxnSp>
      <p:sp>
        <p:nvSpPr>
          <p:cNvPr id="227" name="Google Shape;227;p37"/>
          <p:cNvSpPr txBox="1"/>
          <p:nvPr/>
        </p:nvSpPr>
        <p:spPr>
          <a:xfrm>
            <a:off x="616625" y="2213425"/>
            <a:ext cx="1052400" cy="440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 PINES</a:t>
            </a:r>
            <a:endParaRPr sz="1800">
              <a:solidFill>
                <a:schemeClr val="dk2"/>
              </a:solidFill>
            </a:endParaRPr>
          </a:p>
        </p:txBody>
      </p:sp>
      <p:cxnSp>
        <p:nvCxnSpPr>
          <p:cNvPr id="228" name="Google Shape;228;p37"/>
          <p:cNvCxnSpPr/>
          <p:nvPr/>
        </p:nvCxnSpPr>
        <p:spPr>
          <a:xfrm rot="10800000">
            <a:off x="1516075" y="2696400"/>
            <a:ext cx="1502400" cy="1019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Diagrama de pines de entradas y salidas de Arduino</a:t>
            </a:r>
            <a:endParaRPr b="1"/>
          </a:p>
        </p:txBody>
      </p:sp>
      <p:pic>
        <p:nvPicPr>
          <p:cNvPr id="234" name="Google Shape;234;p38"/>
          <p:cNvPicPr preferRelativeResize="0"/>
          <p:nvPr/>
        </p:nvPicPr>
        <p:blipFill>
          <a:blip r:embed="rId3">
            <a:alphaModFix/>
          </a:blip>
          <a:stretch>
            <a:fillRect/>
          </a:stretch>
        </p:blipFill>
        <p:spPr>
          <a:xfrm>
            <a:off x="1595425" y="1124913"/>
            <a:ext cx="5953125" cy="3781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type="title"/>
          </p:nvPr>
        </p:nvSpPr>
        <p:spPr>
          <a:xfrm>
            <a:off x="311700" y="2660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Conversión Analógico / Digital</a:t>
            </a:r>
            <a:endParaRPr b="1"/>
          </a:p>
          <a:p>
            <a:pPr indent="0" lvl="0" marL="0" rtl="0" algn="ctr">
              <a:spcBef>
                <a:spcPts val="0"/>
              </a:spcBef>
              <a:spcAft>
                <a:spcPts val="0"/>
              </a:spcAft>
              <a:buNone/>
            </a:pPr>
            <a:r>
              <a:t/>
            </a:r>
            <a:endParaRPr b="1"/>
          </a:p>
        </p:txBody>
      </p:sp>
      <p:pic>
        <p:nvPicPr>
          <p:cNvPr id="240" name="Google Shape;240;p39"/>
          <p:cNvPicPr preferRelativeResize="0"/>
          <p:nvPr/>
        </p:nvPicPr>
        <p:blipFill>
          <a:blip r:embed="rId3">
            <a:alphaModFix/>
          </a:blip>
          <a:stretch>
            <a:fillRect/>
          </a:stretch>
        </p:blipFill>
        <p:spPr>
          <a:xfrm>
            <a:off x="4254425" y="1165788"/>
            <a:ext cx="4286250" cy="3667125"/>
          </a:xfrm>
          <a:prstGeom prst="rect">
            <a:avLst/>
          </a:prstGeom>
          <a:noFill/>
          <a:ln>
            <a:noFill/>
          </a:ln>
        </p:spPr>
      </p:pic>
      <p:pic>
        <p:nvPicPr>
          <p:cNvPr id="241" name="Google Shape;241;p39"/>
          <p:cNvPicPr preferRelativeResize="0"/>
          <p:nvPr/>
        </p:nvPicPr>
        <p:blipFill>
          <a:blip r:embed="rId4">
            <a:alphaModFix/>
          </a:blip>
          <a:stretch>
            <a:fillRect/>
          </a:stretch>
        </p:blipFill>
        <p:spPr>
          <a:xfrm>
            <a:off x="445550" y="1331700"/>
            <a:ext cx="2867025" cy="1590675"/>
          </a:xfrm>
          <a:prstGeom prst="rect">
            <a:avLst/>
          </a:prstGeom>
          <a:noFill/>
          <a:ln>
            <a:noFill/>
          </a:ln>
        </p:spPr>
      </p:pic>
      <p:pic>
        <p:nvPicPr>
          <p:cNvPr id="242" name="Google Shape;242;p39"/>
          <p:cNvPicPr preferRelativeResize="0"/>
          <p:nvPr/>
        </p:nvPicPr>
        <p:blipFill>
          <a:blip r:embed="rId5">
            <a:alphaModFix/>
          </a:blip>
          <a:stretch>
            <a:fillRect/>
          </a:stretch>
        </p:blipFill>
        <p:spPr>
          <a:xfrm>
            <a:off x="450313" y="3061450"/>
            <a:ext cx="2857500" cy="1600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Entrada Digital y Analógica</a:t>
            </a:r>
            <a:endParaRPr b="1"/>
          </a:p>
        </p:txBody>
      </p:sp>
      <p:pic>
        <p:nvPicPr>
          <p:cNvPr id="248" name="Google Shape;248;p40"/>
          <p:cNvPicPr preferRelativeResize="0"/>
          <p:nvPr/>
        </p:nvPicPr>
        <p:blipFill>
          <a:blip r:embed="rId3">
            <a:alphaModFix/>
          </a:blip>
          <a:stretch>
            <a:fillRect/>
          </a:stretch>
        </p:blipFill>
        <p:spPr>
          <a:xfrm>
            <a:off x="1443488" y="1093925"/>
            <a:ext cx="6257025" cy="3678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Entradas y Salidas Analógicas y Digitales</a:t>
            </a:r>
            <a:endParaRPr b="1"/>
          </a:p>
        </p:txBody>
      </p:sp>
      <p:pic>
        <p:nvPicPr>
          <p:cNvPr id="254" name="Google Shape;254;p41"/>
          <p:cNvPicPr preferRelativeResize="0"/>
          <p:nvPr/>
        </p:nvPicPr>
        <p:blipFill rotWithShape="1">
          <a:blip r:embed="rId3">
            <a:alphaModFix/>
          </a:blip>
          <a:srcRect b="0" l="2686" r="0" t="0"/>
          <a:stretch/>
        </p:blipFill>
        <p:spPr>
          <a:xfrm>
            <a:off x="1995887" y="1462750"/>
            <a:ext cx="5152224" cy="32825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Programación</a:t>
            </a:r>
            <a:endParaRPr b="1"/>
          </a:p>
        </p:txBody>
      </p:sp>
      <p:sp>
        <p:nvSpPr>
          <p:cNvPr id="260" name="Google Shape;260;p42"/>
          <p:cNvSpPr txBox="1"/>
          <p:nvPr>
            <p:ph idx="1" type="body"/>
          </p:nvPr>
        </p:nvSpPr>
        <p:spPr>
          <a:xfrm>
            <a:off x="311700" y="9577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solidFill>
                  <a:srgbClr val="202122"/>
                </a:solidFill>
                <a:highlight>
                  <a:srgbClr val="FFFFFF"/>
                </a:highlight>
              </a:rPr>
              <a:t>Un </a:t>
            </a:r>
            <a:r>
              <a:rPr b="1" lang="es">
                <a:solidFill>
                  <a:srgbClr val="202122"/>
                </a:solidFill>
                <a:highlight>
                  <a:srgbClr val="FFFFFF"/>
                </a:highlight>
              </a:rPr>
              <a:t>lenguaje de programación</a:t>
            </a:r>
            <a:r>
              <a:rPr lang="es">
                <a:solidFill>
                  <a:srgbClr val="202122"/>
                </a:solidFill>
                <a:highlight>
                  <a:srgbClr val="FFFFFF"/>
                </a:highlight>
              </a:rPr>
              <a:t> le proporciona a una persona, la capacidad de dar instrucciones a un  </a:t>
            </a:r>
            <a:r>
              <a:rPr lang="es">
                <a:solidFill>
                  <a:srgbClr val="202122"/>
                </a:solidFill>
                <a:highlight>
                  <a:srgbClr val="FFFFFF"/>
                </a:highlight>
                <a:uFill>
                  <a:noFill/>
                </a:uFill>
                <a:hlinkClick r:id="rId3">
                  <a:extLst>
                    <a:ext uri="{A12FA001-AC4F-418D-AE19-62706E023703}">
                      <ahyp:hlinkClr val="tx"/>
                    </a:ext>
                  </a:extLst>
                </a:hlinkClick>
              </a:rPr>
              <a:t>sistema informático</a:t>
            </a:r>
            <a:r>
              <a:rPr lang="es"/>
              <a:t>.</a:t>
            </a:r>
            <a:endParaRPr/>
          </a:p>
        </p:txBody>
      </p:sp>
      <p:pic>
        <p:nvPicPr>
          <p:cNvPr id="261" name="Google Shape;261;p42"/>
          <p:cNvPicPr preferRelativeResize="0"/>
          <p:nvPr/>
        </p:nvPicPr>
        <p:blipFill>
          <a:blip r:embed="rId4">
            <a:alphaModFix/>
          </a:blip>
          <a:stretch>
            <a:fillRect/>
          </a:stretch>
        </p:blipFill>
        <p:spPr>
          <a:xfrm>
            <a:off x="155850" y="1588179"/>
            <a:ext cx="8832299" cy="355532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311700" y="3034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Programación en Arduino</a:t>
            </a:r>
            <a:endParaRPr b="1"/>
          </a:p>
        </p:txBody>
      </p:sp>
      <p:sp>
        <p:nvSpPr>
          <p:cNvPr id="267" name="Google Shape;267;p43"/>
          <p:cNvSpPr txBox="1"/>
          <p:nvPr>
            <p:ph idx="1" type="body"/>
          </p:nvPr>
        </p:nvSpPr>
        <p:spPr>
          <a:xfrm>
            <a:off x="311700" y="10266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solidFill>
                  <a:srgbClr val="202122"/>
                </a:solidFill>
                <a:highlight>
                  <a:srgbClr val="FFFFFF"/>
                </a:highlight>
              </a:rPr>
              <a:t>Trabajar con un Arduino consiste fundamentalmente en </a:t>
            </a:r>
            <a:r>
              <a:rPr b="1" lang="es">
                <a:solidFill>
                  <a:srgbClr val="202122"/>
                </a:solidFill>
                <a:highlight>
                  <a:srgbClr val="FFFFFF"/>
                </a:highlight>
              </a:rPr>
              <a:t>interactuar con los diferentes puertos de entrada y salida</a:t>
            </a:r>
            <a:r>
              <a:rPr lang="es">
                <a:solidFill>
                  <a:srgbClr val="202122"/>
                </a:solidFill>
                <a:highlight>
                  <a:srgbClr val="FFFFFF"/>
                </a:highlight>
              </a:rPr>
              <a:t> del Arduino.</a:t>
            </a:r>
            <a:endParaRPr>
              <a:solidFill>
                <a:srgbClr val="202122"/>
              </a:solidFill>
              <a:highlight>
                <a:srgbClr val="FFFFFF"/>
              </a:highlight>
            </a:endParaRPr>
          </a:p>
        </p:txBody>
      </p:sp>
      <p:pic>
        <p:nvPicPr>
          <p:cNvPr id="268" name="Google Shape;268;p43"/>
          <p:cNvPicPr preferRelativeResize="0"/>
          <p:nvPr/>
        </p:nvPicPr>
        <p:blipFill>
          <a:blip r:embed="rId3">
            <a:alphaModFix/>
          </a:blip>
          <a:stretch>
            <a:fillRect/>
          </a:stretch>
        </p:blipFill>
        <p:spPr>
          <a:xfrm>
            <a:off x="1466850" y="1872888"/>
            <a:ext cx="6210300" cy="3190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ARDUINO IDE (Software)</a:t>
            </a:r>
            <a:endParaRPr b="1"/>
          </a:p>
        </p:txBody>
      </p:sp>
      <p:pic>
        <p:nvPicPr>
          <p:cNvPr id="274" name="Google Shape;274;p44"/>
          <p:cNvPicPr preferRelativeResize="0"/>
          <p:nvPr/>
        </p:nvPicPr>
        <p:blipFill>
          <a:blip r:embed="rId3">
            <a:alphaModFix/>
          </a:blip>
          <a:stretch>
            <a:fillRect/>
          </a:stretch>
        </p:blipFill>
        <p:spPr>
          <a:xfrm>
            <a:off x="1671875" y="617517"/>
            <a:ext cx="5893899" cy="4907609"/>
          </a:xfrm>
          <a:prstGeom prst="rect">
            <a:avLst/>
          </a:prstGeom>
          <a:noFill/>
          <a:ln>
            <a:noFill/>
          </a:ln>
        </p:spPr>
      </p:pic>
      <p:sp>
        <p:nvSpPr>
          <p:cNvPr id="275" name="Google Shape;275;p44"/>
          <p:cNvSpPr txBox="1"/>
          <p:nvPr/>
        </p:nvSpPr>
        <p:spPr>
          <a:xfrm>
            <a:off x="0" y="513825"/>
            <a:ext cx="176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Verificar/Compilar</a:t>
            </a:r>
            <a:endParaRPr/>
          </a:p>
        </p:txBody>
      </p:sp>
      <p:sp>
        <p:nvSpPr>
          <p:cNvPr id="276" name="Google Shape;276;p44"/>
          <p:cNvSpPr txBox="1"/>
          <p:nvPr/>
        </p:nvSpPr>
        <p:spPr>
          <a:xfrm>
            <a:off x="311700" y="1318550"/>
            <a:ext cx="122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Cargar/Subir</a:t>
            </a:r>
            <a:endParaRPr/>
          </a:p>
        </p:txBody>
      </p:sp>
      <p:sp>
        <p:nvSpPr>
          <p:cNvPr id="277" name="Google Shape;277;p44"/>
          <p:cNvSpPr txBox="1"/>
          <p:nvPr/>
        </p:nvSpPr>
        <p:spPr>
          <a:xfrm>
            <a:off x="7429225" y="617525"/>
            <a:ext cx="153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Monitor Serial</a:t>
            </a:r>
            <a:endParaRPr/>
          </a:p>
        </p:txBody>
      </p:sp>
      <p:sp>
        <p:nvSpPr>
          <p:cNvPr id="278" name="Google Shape;278;p44"/>
          <p:cNvSpPr txBox="1"/>
          <p:nvPr/>
        </p:nvSpPr>
        <p:spPr>
          <a:xfrm>
            <a:off x="7721675" y="4639375"/>
            <a:ext cx="153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Información placa y puerto</a:t>
            </a:r>
            <a:endParaRPr/>
          </a:p>
        </p:txBody>
      </p:sp>
      <p:cxnSp>
        <p:nvCxnSpPr>
          <p:cNvPr id="279" name="Google Shape;279;p44"/>
          <p:cNvCxnSpPr>
            <a:endCxn id="277" idx="1"/>
          </p:cNvCxnSpPr>
          <p:nvPr/>
        </p:nvCxnSpPr>
        <p:spPr>
          <a:xfrm flipH="1" rot="10800000">
            <a:off x="7106725" y="817625"/>
            <a:ext cx="322500" cy="281700"/>
          </a:xfrm>
          <a:prstGeom prst="straightConnector1">
            <a:avLst/>
          </a:prstGeom>
          <a:noFill/>
          <a:ln cap="flat" cmpd="sng" w="19050">
            <a:solidFill>
              <a:schemeClr val="dk2"/>
            </a:solidFill>
            <a:prstDash val="solid"/>
            <a:round/>
            <a:headEnd len="med" w="med" type="none"/>
            <a:tailEnd len="med" w="med" type="triangle"/>
          </a:ln>
        </p:spPr>
      </p:cxnSp>
      <p:cxnSp>
        <p:nvCxnSpPr>
          <p:cNvPr id="280" name="Google Shape;280;p44"/>
          <p:cNvCxnSpPr/>
          <p:nvPr/>
        </p:nvCxnSpPr>
        <p:spPr>
          <a:xfrm rot="10800000">
            <a:off x="1502692" y="887367"/>
            <a:ext cx="615000" cy="288000"/>
          </a:xfrm>
          <a:prstGeom prst="straightConnector1">
            <a:avLst/>
          </a:prstGeom>
          <a:noFill/>
          <a:ln cap="flat" cmpd="sng" w="19050">
            <a:solidFill>
              <a:schemeClr val="dk2"/>
            </a:solidFill>
            <a:prstDash val="solid"/>
            <a:round/>
            <a:headEnd len="med" w="med" type="none"/>
            <a:tailEnd len="med" w="med" type="triangle"/>
          </a:ln>
        </p:spPr>
      </p:cxnSp>
      <p:cxnSp>
        <p:nvCxnSpPr>
          <p:cNvPr id="281" name="Google Shape;281;p44"/>
          <p:cNvCxnSpPr/>
          <p:nvPr/>
        </p:nvCxnSpPr>
        <p:spPr>
          <a:xfrm flipH="1">
            <a:off x="1602031" y="1183184"/>
            <a:ext cx="850800" cy="366600"/>
          </a:xfrm>
          <a:prstGeom prst="straightConnector1">
            <a:avLst/>
          </a:prstGeom>
          <a:noFill/>
          <a:ln cap="flat" cmpd="sng" w="19050">
            <a:solidFill>
              <a:schemeClr val="dk2"/>
            </a:solidFill>
            <a:prstDash val="solid"/>
            <a:round/>
            <a:headEnd len="med" w="med" type="none"/>
            <a:tailEnd len="med" w="med" type="triangle"/>
          </a:ln>
        </p:spPr>
      </p:cxnSp>
      <p:cxnSp>
        <p:nvCxnSpPr>
          <p:cNvPr id="282" name="Google Shape;282;p44"/>
          <p:cNvCxnSpPr/>
          <p:nvPr/>
        </p:nvCxnSpPr>
        <p:spPr>
          <a:xfrm>
            <a:off x="7106675" y="4837069"/>
            <a:ext cx="6150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5"/>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A Programar!</a:t>
            </a:r>
            <a:endParaRPr b="1"/>
          </a:p>
        </p:txBody>
      </p:sp>
      <p:pic>
        <p:nvPicPr>
          <p:cNvPr id="288" name="Google Shape;288;p45"/>
          <p:cNvPicPr preferRelativeResize="0"/>
          <p:nvPr/>
        </p:nvPicPr>
        <p:blipFill>
          <a:blip r:embed="rId3">
            <a:alphaModFix/>
          </a:blip>
          <a:stretch>
            <a:fillRect/>
          </a:stretch>
        </p:blipFill>
        <p:spPr>
          <a:xfrm>
            <a:off x="2578153" y="1017725"/>
            <a:ext cx="3987698" cy="4032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4" name="Google Shape;29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Conectar Arduino por USB</a:t>
            </a:r>
            <a:endParaRPr/>
          </a:p>
          <a:p>
            <a:pPr indent="-342900" lvl="0" marL="457200" rtl="0" algn="l">
              <a:spcBef>
                <a:spcPts val="0"/>
              </a:spcBef>
              <a:spcAft>
                <a:spcPts val="0"/>
              </a:spcAft>
              <a:buSzPts val="1800"/>
              <a:buChar char="-"/>
            </a:pPr>
            <a:r>
              <a:rPr lang="es"/>
              <a:t>Abrir Arduino IDE</a:t>
            </a:r>
            <a:endParaRPr/>
          </a:p>
          <a:p>
            <a:pPr indent="-342900" lvl="0" marL="457200" rtl="0" algn="l">
              <a:spcBef>
                <a:spcPts val="0"/>
              </a:spcBef>
              <a:spcAft>
                <a:spcPts val="0"/>
              </a:spcAft>
              <a:buSzPts val="1800"/>
              <a:buChar char="-"/>
            </a:pPr>
            <a:r>
              <a:rPr lang="es"/>
              <a:t>Abrir Ejemplo Blink.ino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0" name="Google Shape;300;p47" title="Captura de pantalla 2026-02-22 a las 17.43.18.png"/>
          <p:cNvPicPr preferRelativeResize="0"/>
          <p:nvPr/>
        </p:nvPicPr>
        <p:blipFill>
          <a:blip r:embed="rId3">
            <a:alphaModFix/>
          </a:blip>
          <a:stretch>
            <a:fillRect/>
          </a:stretch>
        </p:blipFill>
        <p:spPr>
          <a:xfrm>
            <a:off x="0" y="1152472"/>
            <a:ext cx="9144000" cy="3859056"/>
          </a:xfrm>
          <a:prstGeom prst="rect">
            <a:avLst/>
          </a:prstGeom>
          <a:noFill/>
          <a:ln>
            <a:noFill/>
          </a:ln>
        </p:spPr>
      </p:pic>
      <p:sp>
        <p:nvSpPr>
          <p:cNvPr id="301" name="Google Shape;301;p47"/>
          <p:cNvSpPr txBox="1"/>
          <p:nvPr>
            <p:ph type="title"/>
          </p:nvPr>
        </p:nvSpPr>
        <p:spPr>
          <a:xfrm>
            <a:off x="311700" y="3034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Hola Mundo!</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Resultado esperado</a:t>
            </a:r>
            <a:endParaRPr b="1"/>
          </a:p>
        </p:txBody>
      </p:sp>
      <p:pic>
        <p:nvPicPr>
          <p:cNvPr descr="Switching the built-in LED on and off every second. Lab 1 - ECE 3400 - Cornell University" id="307" name="Google Shape;307;p48" title="Blinking Built-in LED (Arduino)">
            <a:hlinkClick r:id="rId3"/>
          </p:cNvPr>
          <p:cNvPicPr preferRelativeResize="0"/>
          <p:nvPr/>
        </p:nvPicPr>
        <p:blipFill>
          <a:blip r:embed="rId4">
            <a:alphaModFix/>
          </a:blip>
          <a:stretch>
            <a:fillRect/>
          </a:stretch>
        </p:blipFill>
        <p:spPr>
          <a:xfrm>
            <a:off x="1024425" y="1017725"/>
            <a:ext cx="7095155" cy="3991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9"/>
          <p:cNvSpPr txBox="1"/>
          <p:nvPr/>
        </p:nvSpPr>
        <p:spPr>
          <a:xfrm>
            <a:off x="4563300" y="407725"/>
            <a:ext cx="4030200" cy="136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313" name="Google Shape;313;p49" title="Captura de pantalla 2026-02-24 a las 10.44.51.png"/>
          <p:cNvPicPr preferRelativeResize="0"/>
          <p:nvPr/>
        </p:nvPicPr>
        <p:blipFill>
          <a:blip r:embed="rId3">
            <a:alphaModFix/>
          </a:blip>
          <a:stretch>
            <a:fillRect/>
          </a:stretch>
        </p:blipFill>
        <p:spPr>
          <a:xfrm>
            <a:off x="2936673" y="914175"/>
            <a:ext cx="6207324" cy="4229324"/>
          </a:xfrm>
          <a:prstGeom prst="rect">
            <a:avLst/>
          </a:prstGeom>
          <a:noFill/>
          <a:ln>
            <a:noFill/>
          </a:ln>
        </p:spPr>
      </p:pic>
      <p:sp>
        <p:nvSpPr>
          <p:cNvPr id="314" name="Google Shape;314;p49"/>
          <p:cNvSpPr txBox="1"/>
          <p:nvPr>
            <p:ph type="title"/>
          </p:nvPr>
        </p:nvSpPr>
        <p:spPr>
          <a:xfrm>
            <a:off x="311700" y="287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Digital Read: Conexión a Protoboard</a:t>
            </a:r>
            <a:endParaRPr b="1"/>
          </a:p>
        </p:txBody>
      </p:sp>
      <p:sp>
        <p:nvSpPr>
          <p:cNvPr id="315" name="Google Shape;315;p49"/>
          <p:cNvSpPr txBox="1"/>
          <p:nvPr>
            <p:ph idx="1" type="body"/>
          </p:nvPr>
        </p:nvSpPr>
        <p:spPr>
          <a:xfrm>
            <a:off x="139725" y="1152475"/>
            <a:ext cx="2626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t>Conexiones:</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s" sz="1600"/>
              <a:t>GND - Botón</a:t>
            </a:r>
            <a:endParaRPr sz="1600"/>
          </a:p>
          <a:p>
            <a:pPr indent="0" lvl="0" marL="0" rtl="0" algn="l">
              <a:spcBef>
                <a:spcPts val="1200"/>
              </a:spcBef>
              <a:spcAft>
                <a:spcPts val="1200"/>
              </a:spcAft>
              <a:buNone/>
            </a:pPr>
            <a:r>
              <a:rPr lang="es" sz="1600"/>
              <a:t>Pin 2 - Botón</a:t>
            </a:r>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Funcionamiento </a:t>
            </a:r>
            <a:r>
              <a:rPr b="1" lang="es"/>
              <a:t>Protoboard</a:t>
            </a:r>
            <a:endParaRPr b="1"/>
          </a:p>
        </p:txBody>
      </p:sp>
      <p:pic>
        <p:nvPicPr>
          <p:cNvPr id="321" name="Google Shape;321;p50"/>
          <p:cNvPicPr preferRelativeResize="0"/>
          <p:nvPr/>
        </p:nvPicPr>
        <p:blipFill>
          <a:blip r:embed="rId3">
            <a:alphaModFix/>
          </a:blip>
          <a:stretch>
            <a:fillRect/>
          </a:stretch>
        </p:blipFill>
        <p:spPr>
          <a:xfrm>
            <a:off x="1925963" y="1350375"/>
            <a:ext cx="5292070" cy="3416400"/>
          </a:xfrm>
          <a:prstGeom prst="rect">
            <a:avLst/>
          </a:prstGeom>
          <a:noFill/>
          <a:ln>
            <a:noFill/>
          </a:ln>
        </p:spPr>
      </p:pic>
      <p:cxnSp>
        <p:nvCxnSpPr>
          <p:cNvPr id="322" name="Google Shape;322;p50"/>
          <p:cNvCxnSpPr/>
          <p:nvPr/>
        </p:nvCxnSpPr>
        <p:spPr>
          <a:xfrm flipH="1" rot="10800000">
            <a:off x="7123625" y="1663425"/>
            <a:ext cx="644100" cy="13500"/>
          </a:xfrm>
          <a:prstGeom prst="straightConnector1">
            <a:avLst/>
          </a:prstGeom>
          <a:noFill/>
          <a:ln cap="flat" cmpd="sng" w="38100">
            <a:solidFill>
              <a:srgbClr val="FF0000"/>
            </a:solidFill>
            <a:prstDash val="solid"/>
            <a:round/>
            <a:headEnd len="med" w="med" type="none"/>
            <a:tailEnd len="med" w="med" type="triangle"/>
          </a:ln>
        </p:spPr>
      </p:cxnSp>
      <p:cxnSp>
        <p:nvCxnSpPr>
          <p:cNvPr id="323" name="Google Shape;323;p50"/>
          <p:cNvCxnSpPr/>
          <p:nvPr/>
        </p:nvCxnSpPr>
        <p:spPr>
          <a:xfrm flipH="1" rot="10800000">
            <a:off x="7123625" y="4445263"/>
            <a:ext cx="644100" cy="13500"/>
          </a:xfrm>
          <a:prstGeom prst="straightConnector1">
            <a:avLst/>
          </a:prstGeom>
          <a:noFill/>
          <a:ln cap="flat" cmpd="sng" w="38100">
            <a:solidFill>
              <a:schemeClr val="dk1"/>
            </a:solidFill>
            <a:prstDash val="solid"/>
            <a:round/>
            <a:headEnd len="med" w="med" type="none"/>
            <a:tailEnd len="med" w="med" type="triangle"/>
          </a:ln>
        </p:spPr>
      </p:cxnSp>
      <p:sp>
        <p:nvSpPr>
          <p:cNvPr id="324" name="Google Shape;324;p50"/>
          <p:cNvSpPr txBox="1"/>
          <p:nvPr/>
        </p:nvSpPr>
        <p:spPr>
          <a:xfrm>
            <a:off x="7955375" y="1439325"/>
            <a:ext cx="103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 </a:t>
            </a:r>
            <a:r>
              <a:rPr b="1" lang="es" sz="1800">
                <a:solidFill>
                  <a:schemeClr val="dk2"/>
                </a:solidFill>
              </a:rPr>
              <a:t>5v</a:t>
            </a:r>
            <a:endParaRPr b="1" sz="1800">
              <a:solidFill>
                <a:schemeClr val="dk2"/>
              </a:solidFill>
            </a:endParaRPr>
          </a:p>
        </p:txBody>
      </p:sp>
      <p:sp>
        <p:nvSpPr>
          <p:cNvPr id="325" name="Google Shape;325;p50"/>
          <p:cNvSpPr txBox="1"/>
          <p:nvPr/>
        </p:nvSpPr>
        <p:spPr>
          <a:xfrm>
            <a:off x="7955375" y="4221175"/>
            <a:ext cx="103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a:t>
            </a:r>
            <a:r>
              <a:rPr b="1" lang="es" sz="1800">
                <a:solidFill>
                  <a:schemeClr val="dk2"/>
                </a:solidFill>
              </a:rPr>
              <a:t> GND</a:t>
            </a:r>
            <a:endParaRPr b="1"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1"/>
          <p:cNvSpPr txBox="1"/>
          <p:nvPr>
            <p:ph type="title"/>
          </p:nvPr>
        </p:nvSpPr>
        <p:spPr>
          <a:xfrm>
            <a:off x="311700" y="287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Ejemplos Digital Read: Programaci</a:t>
            </a:r>
            <a:r>
              <a:rPr b="1" lang="es"/>
              <a:t>ón</a:t>
            </a:r>
            <a:endParaRPr b="1"/>
          </a:p>
        </p:txBody>
      </p:sp>
      <p:pic>
        <p:nvPicPr>
          <p:cNvPr id="331" name="Google Shape;331;p51" title="Captura de pantalla 2026-02-24 a las 11.03.36.png"/>
          <p:cNvPicPr preferRelativeResize="0"/>
          <p:nvPr/>
        </p:nvPicPr>
        <p:blipFill>
          <a:blip r:embed="rId3">
            <a:alphaModFix/>
          </a:blip>
          <a:stretch>
            <a:fillRect/>
          </a:stretch>
        </p:blipFill>
        <p:spPr>
          <a:xfrm>
            <a:off x="1467852" y="1017725"/>
            <a:ext cx="5924386" cy="3991025"/>
          </a:xfrm>
          <a:prstGeom prst="rect">
            <a:avLst/>
          </a:prstGeom>
          <a:noFill/>
          <a:ln>
            <a:noFill/>
          </a:ln>
        </p:spPr>
      </p:pic>
      <p:cxnSp>
        <p:nvCxnSpPr>
          <p:cNvPr id="332" name="Google Shape;332;p51"/>
          <p:cNvCxnSpPr/>
          <p:nvPr/>
        </p:nvCxnSpPr>
        <p:spPr>
          <a:xfrm rot="10800000">
            <a:off x="3872975" y="3701575"/>
            <a:ext cx="831000" cy="156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52" title="Captura de pantalla 2026-02-27 a las 17.29.26.png"/>
          <p:cNvPicPr preferRelativeResize="0"/>
          <p:nvPr/>
        </p:nvPicPr>
        <p:blipFill rotWithShape="1">
          <a:blip r:embed="rId3">
            <a:alphaModFix/>
          </a:blip>
          <a:srcRect b="0" l="70" r="70" t="0"/>
          <a:stretch/>
        </p:blipFill>
        <p:spPr>
          <a:xfrm>
            <a:off x="2766587" y="1017725"/>
            <a:ext cx="6065725" cy="4102575"/>
          </a:xfrm>
          <a:prstGeom prst="rect">
            <a:avLst/>
          </a:prstGeom>
          <a:noFill/>
          <a:ln>
            <a:noFill/>
          </a:ln>
        </p:spPr>
      </p:pic>
      <p:sp>
        <p:nvSpPr>
          <p:cNvPr id="338" name="Google Shape;33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Arduino + LED + Botón</a:t>
            </a:r>
            <a:endParaRPr b="1"/>
          </a:p>
        </p:txBody>
      </p:sp>
      <p:sp>
        <p:nvSpPr>
          <p:cNvPr id="339" name="Google Shape;339;p52"/>
          <p:cNvSpPr txBox="1"/>
          <p:nvPr>
            <p:ph idx="1" type="body"/>
          </p:nvPr>
        </p:nvSpPr>
        <p:spPr>
          <a:xfrm>
            <a:off x="139725" y="1152475"/>
            <a:ext cx="2626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t>Conexiones:</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s" sz="1600"/>
              <a:t>GND - Bot</a:t>
            </a:r>
            <a:r>
              <a:rPr lang="es" sz="1600"/>
              <a:t>ón y LED</a:t>
            </a:r>
            <a:endParaRPr sz="1600"/>
          </a:p>
          <a:p>
            <a:pPr indent="0" lvl="0" marL="0" rtl="0" algn="l">
              <a:spcBef>
                <a:spcPts val="1200"/>
              </a:spcBef>
              <a:spcAft>
                <a:spcPts val="0"/>
              </a:spcAft>
              <a:buNone/>
            </a:pPr>
            <a:r>
              <a:rPr lang="es" sz="1600"/>
              <a:t>Pin 2 - Bot</a:t>
            </a:r>
            <a:r>
              <a:rPr lang="es" sz="1600"/>
              <a:t>ón</a:t>
            </a:r>
            <a:endParaRPr sz="1600"/>
          </a:p>
          <a:p>
            <a:pPr indent="0" lvl="0" marL="0" rtl="0" algn="l">
              <a:spcBef>
                <a:spcPts val="1200"/>
              </a:spcBef>
              <a:spcAft>
                <a:spcPts val="1200"/>
              </a:spcAft>
              <a:buNone/>
            </a:pPr>
            <a:r>
              <a:rPr lang="es" sz="1600"/>
              <a:t>Pin 3 - Resistencia - Led</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3"/>
          <p:cNvSpPr txBox="1"/>
          <p:nvPr>
            <p:ph type="title"/>
          </p:nvPr>
        </p:nvSpPr>
        <p:spPr>
          <a:xfrm>
            <a:off x="311700" y="2333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Arduino + LED + Bot</a:t>
            </a:r>
            <a:r>
              <a:rPr b="1" lang="es"/>
              <a:t>ón</a:t>
            </a:r>
            <a:endParaRPr b="1"/>
          </a:p>
        </p:txBody>
      </p:sp>
      <p:pic>
        <p:nvPicPr>
          <p:cNvPr id="345" name="Google Shape;345;p53" title="Captura de pantalla 2026-02-24 a las 11.07.27.png"/>
          <p:cNvPicPr preferRelativeResize="0"/>
          <p:nvPr/>
        </p:nvPicPr>
        <p:blipFill rotWithShape="1">
          <a:blip r:embed="rId3">
            <a:alphaModFix/>
          </a:blip>
          <a:srcRect b="0" l="0" r="0" t="4114"/>
          <a:stretch/>
        </p:blipFill>
        <p:spPr>
          <a:xfrm>
            <a:off x="1382789" y="911875"/>
            <a:ext cx="6378409" cy="423162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54" title="Captura de pantalla 2026-03-03 a las 17.54.57.png"/>
          <p:cNvPicPr preferRelativeResize="0"/>
          <p:nvPr/>
        </p:nvPicPr>
        <p:blipFill rotWithShape="1">
          <a:blip r:embed="rId3">
            <a:alphaModFix/>
          </a:blip>
          <a:srcRect b="0" l="2052" r="2052" t="0"/>
          <a:stretch/>
        </p:blipFill>
        <p:spPr>
          <a:xfrm>
            <a:off x="2837032" y="1017725"/>
            <a:ext cx="5995267" cy="4125776"/>
          </a:xfrm>
          <a:prstGeom prst="rect">
            <a:avLst/>
          </a:prstGeom>
          <a:noFill/>
          <a:ln>
            <a:noFill/>
          </a:ln>
        </p:spPr>
      </p:pic>
      <p:sp>
        <p:nvSpPr>
          <p:cNvPr id="351" name="Google Shape;35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Arduino + LED + Potenci</a:t>
            </a:r>
            <a:r>
              <a:rPr b="1" lang="es"/>
              <a:t>ómetro</a:t>
            </a:r>
            <a:endParaRPr b="1"/>
          </a:p>
        </p:txBody>
      </p:sp>
      <p:sp>
        <p:nvSpPr>
          <p:cNvPr id="352" name="Google Shape;352;p54"/>
          <p:cNvSpPr txBox="1"/>
          <p:nvPr>
            <p:ph idx="1" type="body"/>
          </p:nvPr>
        </p:nvSpPr>
        <p:spPr>
          <a:xfrm>
            <a:off x="139725" y="1152475"/>
            <a:ext cx="2626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t>Conexiones:</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s" sz="1600"/>
              <a:t>GND - Botón, LED y Pote</a:t>
            </a:r>
            <a:endParaRPr sz="1600"/>
          </a:p>
          <a:p>
            <a:pPr indent="0" lvl="0" marL="0" rtl="0" algn="l">
              <a:spcBef>
                <a:spcPts val="1200"/>
              </a:spcBef>
              <a:spcAft>
                <a:spcPts val="0"/>
              </a:spcAft>
              <a:buNone/>
            </a:pPr>
            <a:r>
              <a:rPr lang="es" sz="1600"/>
              <a:t>Pin 2 - Botón</a:t>
            </a:r>
            <a:endParaRPr sz="1600"/>
          </a:p>
          <a:p>
            <a:pPr indent="0" lvl="0" marL="0" rtl="0" algn="l">
              <a:spcBef>
                <a:spcPts val="1200"/>
              </a:spcBef>
              <a:spcAft>
                <a:spcPts val="0"/>
              </a:spcAft>
              <a:buNone/>
            </a:pPr>
            <a:r>
              <a:rPr lang="es" sz="1600"/>
              <a:t>Pin 3 - Resistencia - Led</a:t>
            </a:r>
            <a:endParaRPr sz="1600"/>
          </a:p>
          <a:p>
            <a:pPr indent="0" lvl="0" marL="0" rtl="0" algn="l">
              <a:spcBef>
                <a:spcPts val="1200"/>
              </a:spcBef>
              <a:spcAft>
                <a:spcPts val="0"/>
              </a:spcAft>
              <a:buNone/>
            </a:pPr>
            <a:r>
              <a:rPr lang="es" sz="1600"/>
              <a:t>Pin A0 - Pin central Pote</a:t>
            </a:r>
            <a:endParaRPr sz="1600"/>
          </a:p>
          <a:p>
            <a:pPr indent="0" lvl="0" marL="0" rtl="0" algn="l">
              <a:spcBef>
                <a:spcPts val="1200"/>
              </a:spcBef>
              <a:spcAft>
                <a:spcPts val="1200"/>
              </a:spcAft>
              <a:buNone/>
            </a:pPr>
            <a:r>
              <a:rPr lang="es" sz="1600"/>
              <a:t>+5v -  Pote</a:t>
            </a:r>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55" title="Captura de pantalla 2026-02-24 a las 11.14.15.png"/>
          <p:cNvPicPr preferRelativeResize="0"/>
          <p:nvPr/>
        </p:nvPicPr>
        <p:blipFill rotWithShape="1">
          <a:blip r:embed="rId3">
            <a:alphaModFix/>
          </a:blip>
          <a:srcRect b="0" l="0" r="0" t="4325"/>
          <a:stretch/>
        </p:blipFill>
        <p:spPr>
          <a:xfrm>
            <a:off x="1121525" y="806050"/>
            <a:ext cx="6900974" cy="4180224"/>
          </a:xfrm>
          <a:prstGeom prst="rect">
            <a:avLst/>
          </a:prstGeom>
          <a:noFill/>
          <a:ln>
            <a:noFill/>
          </a:ln>
        </p:spPr>
      </p:pic>
      <p:sp>
        <p:nvSpPr>
          <p:cNvPr id="358" name="Google Shape;358;p55"/>
          <p:cNvSpPr txBox="1"/>
          <p:nvPr>
            <p:ph type="title"/>
          </p:nvPr>
        </p:nvSpPr>
        <p:spPr>
          <a:xfrm>
            <a:off x="311700" y="2333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Leer potenci</a:t>
            </a:r>
            <a:r>
              <a:rPr b="1" lang="es"/>
              <a:t>ómetro.</a:t>
            </a:r>
            <a:endParaRPr b="1"/>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56" title="Captura de pantalla 2026-02-24 a las 11.16.05.png"/>
          <p:cNvPicPr preferRelativeResize="0"/>
          <p:nvPr/>
        </p:nvPicPr>
        <p:blipFill rotWithShape="1">
          <a:blip r:embed="rId3">
            <a:alphaModFix/>
          </a:blip>
          <a:srcRect b="0" l="0" r="0" t="3605"/>
          <a:stretch/>
        </p:blipFill>
        <p:spPr>
          <a:xfrm>
            <a:off x="1558587" y="899575"/>
            <a:ext cx="6026824" cy="4243924"/>
          </a:xfrm>
          <a:prstGeom prst="rect">
            <a:avLst/>
          </a:prstGeom>
          <a:noFill/>
          <a:ln>
            <a:noFill/>
          </a:ln>
        </p:spPr>
      </p:pic>
      <p:sp>
        <p:nvSpPr>
          <p:cNvPr id="364" name="Google Shape;364;p56"/>
          <p:cNvSpPr txBox="1"/>
          <p:nvPr>
            <p:ph type="title"/>
          </p:nvPr>
        </p:nvSpPr>
        <p:spPr>
          <a:xfrm>
            <a:off x="311700" y="2333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LED + Bot</a:t>
            </a:r>
            <a:r>
              <a:rPr b="1" lang="es"/>
              <a:t>ón + Pote (Brillo)</a:t>
            </a:r>
            <a:endParaRPr b="1"/>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57" title="Captura de pantalla 2026-02-24 a las 14.59.50.png"/>
          <p:cNvPicPr preferRelativeResize="0"/>
          <p:nvPr/>
        </p:nvPicPr>
        <p:blipFill rotWithShape="1">
          <a:blip r:embed="rId3">
            <a:alphaModFix/>
          </a:blip>
          <a:srcRect b="0" l="2444" r="2444" t="0"/>
          <a:stretch/>
        </p:blipFill>
        <p:spPr>
          <a:xfrm>
            <a:off x="3145325" y="886350"/>
            <a:ext cx="5906076" cy="4257151"/>
          </a:xfrm>
          <a:prstGeom prst="rect">
            <a:avLst/>
          </a:prstGeom>
          <a:noFill/>
          <a:ln>
            <a:noFill/>
          </a:ln>
        </p:spPr>
      </p:pic>
      <p:sp>
        <p:nvSpPr>
          <p:cNvPr id="370" name="Google Shape;37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Ejemplo. Arduino + LED + Botón</a:t>
            </a:r>
            <a:endParaRPr b="1"/>
          </a:p>
        </p:txBody>
      </p:sp>
      <p:sp>
        <p:nvSpPr>
          <p:cNvPr id="371" name="Google Shape;371;p57"/>
          <p:cNvSpPr txBox="1"/>
          <p:nvPr>
            <p:ph idx="1" type="body"/>
          </p:nvPr>
        </p:nvSpPr>
        <p:spPr>
          <a:xfrm>
            <a:off x="139725" y="1152475"/>
            <a:ext cx="26268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t>Conexiones:</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s" sz="1600"/>
              <a:t>GND - Botón, LED y Pote</a:t>
            </a:r>
            <a:endParaRPr sz="1600"/>
          </a:p>
          <a:p>
            <a:pPr indent="0" lvl="0" marL="0" rtl="0" algn="l">
              <a:spcBef>
                <a:spcPts val="1200"/>
              </a:spcBef>
              <a:spcAft>
                <a:spcPts val="0"/>
              </a:spcAft>
              <a:buNone/>
            </a:pPr>
            <a:r>
              <a:rPr lang="es" sz="1600"/>
              <a:t>+5v -  Pote</a:t>
            </a:r>
            <a:endParaRPr sz="1600"/>
          </a:p>
          <a:p>
            <a:pPr indent="0" lvl="0" marL="0" rtl="0" algn="l">
              <a:spcBef>
                <a:spcPts val="1200"/>
              </a:spcBef>
              <a:spcAft>
                <a:spcPts val="0"/>
              </a:spcAft>
              <a:buNone/>
            </a:pPr>
            <a:r>
              <a:rPr lang="es" sz="1600"/>
              <a:t>Pin 2 - Botón</a:t>
            </a:r>
            <a:endParaRPr sz="1600"/>
          </a:p>
          <a:p>
            <a:pPr indent="0" lvl="0" marL="0" rtl="0" algn="l">
              <a:spcBef>
                <a:spcPts val="1200"/>
              </a:spcBef>
              <a:spcAft>
                <a:spcPts val="0"/>
              </a:spcAft>
              <a:buNone/>
            </a:pPr>
            <a:r>
              <a:rPr lang="es" sz="1600"/>
              <a:t>Pin 3 - Resistencia - Led1</a:t>
            </a:r>
            <a:endParaRPr sz="1600"/>
          </a:p>
          <a:p>
            <a:pPr indent="0" lvl="0" marL="0" rtl="0" algn="l">
              <a:spcBef>
                <a:spcPts val="1200"/>
              </a:spcBef>
              <a:spcAft>
                <a:spcPts val="0"/>
              </a:spcAft>
              <a:buClr>
                <a:schemeClr val="dk1"/>
              </a:buClr>
              <a:buSzPts val="1100"/>
              <a:buFont typeface="Arial"/>
              <a:buNone/>
            </a:pPr>
            <a:r>
              <a:rPr lang="es" sz="1600"/>
              <a:t>Pin 4 - Resistencia - Led2</a:t>
            </a:r>
            <a:endParaRPr sz="1600"/>
          </a:p>
          <a:p>
            <a:pPr indent="0" lvl="0" marL="0" rtl="0" algn="l">
              <a:spcBef>
                <a:spcPts val="1200"/>
              </a:spcBef>
              <a:spcAft>
                <a:spcPts val="0"/>
              </a:spcAft>
              <a:buNone/>
            </a:pPr>
            <a:r>
              <a:rPr lang="es" sz="1600"/>
              <a:t>Pin 5 - Resistencia - Led3</a:t>
            </a:r>
            <a:endParaRPr sz="1600"/>
          </a:p>
          <a:p>
            <a:pPr indent="0" lvl="0" marL="0" rtl="0" algn="l">
              <a:spcBef>
                <a:spcPts val="1200"/>
              </a:spcBef>
              <a:spcAft>
                <a:spcPts val="1200"/>
              </a:spcAft>
              <a:buNone/>
            </a:pPr>
            <a:r>
              <a:rPr lang="es" sz="1600"/>
              <a:t>Pin A0 - Pin central Pote</a:t>
            </a:r>
            <a:endParaRPr sz="16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Programaci</a:t>
            </a:r>
            <a:r>
              <a:rPr b="1" lang="es"/>
              <a:t>ón de Sensores y kit base</a:t>
            </a:r>
            <a:endParaRPr b="1"/>
          </a:p>
        </p:txBody>
      </p:sp>
      <p:sp>
        <p:nvSpPr>
          <p:cNvPr id="377" name="Google Shape;377;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Librer</a:t>
            </a:r>
            <a:r>
              <a:rPr lang="es"/>
              <a:t>ía </a:t>
            </a:r>
            <a:r>
              <a:rPr lang="es"/>
              <a:t>LCD - Hola Mundo</a:t>
            </a:r>
            <a:endParaRPr/>
          </a:p>
          <a:p>
            <a:pPr indent="0" lvl="0" marL="0" rtl="0" algn="l">
              <a:spcBef>
                <a:spcPts val="1200"/>
              </a:spcBef>
              <a:spcAft>
                <a:spcPts val="0"/>
              </a:spcAft>
              <a:buNone/>
            </a:pPr>
            <a:r>
              <a:rPr lang="es"/>
              <a:t>Protocolos de comunicaci</a:t>
            </a:r>
            <a:r>
              <a:rPr lang="es"/>
              <a:t>ón: I2C</a:t>
            </a:r>
            <a:endParaRPr/>
          </a:p>
          <a:p>
            <a:pPr indent="0" lvl="0" marL="0" rtl="0" algn="l">
              <a:spcBef>
                <a:spcPts val="1200"/>
              </a:spcBef>
              <a:spcAft>
                <a:spcPts val="0"/>
              </a:spcAft>
              <a:buNone/>
            </a:pPr>
            <a:r>
              <a:rPr lang="es"/>
              <a:t>RTC en Serial y en LCD</a:t>
            </a:r>
            <a:endParaRPr/>
          </a:p>
          <a:p>
            <a:pPr indent="0" lvl="0" marL="0" rtl="0" algn="l">
              <a:spcBef>
                <a:spcPts val="1200"/>
              </a:spcBef>
              <a:spcAft>
                <a:spcPts val="0"/>
              </a:spcAft>
              <a:buNone/>
            </a:pPr>
            <a:r>
              <a:rPr lang="es"/>
              <a:t>Almacenamiento de datos en SD: SPI (ver tutorial, formato sd, etc)</a:t>
            </a:r>
            <a:endParaRPr/>
          </a:p>
          <a:p>
            <a:pPr indent="0" lvl="0" marL="0" rtl="0" algn="l">
              <a:spcBef>
                <a:spcPts val="1200"/>
              </a:spcBef>
              <a:spcAft>
                <a:spcPts val="0"/>
              </a:spcAft>
              <a:buNone/>
            </a:pPr>
            <a:r>
              <a:rPr lang="es"/>
              <a:t>Integración kit base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a:t>Lista de componentes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9"/>
          <p:cNvSpPr txBox="1"/>
          <p:nvPr>
            <p:ph type="title"/>
          </p:nvPr>
        </p:nvSpPr>
        <p:spPr>
          <a:xfrm>
            <a:off x="311700" y="364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Uso de librer</a:t>
            </a:r>
            <a:r>
              <a:rPr b="1" lang="es"/>
              <a:t>ías en Arduino</a:t>
            </a:r>
            <a:endParaRPr b="1"/>
          </a:p>
        </p:txBody>
      </p:sp>
      <p:sp>
        <p:nvSpPr>
          <p:cNvPr id="383" name="Google Shape;383;p59"/>
          <p:cNvSpPr txBox="1"/>
          <p:nvPr>
            <p:ph idx="1" type="body"/>
          </p:nvPr>
        </p:nvSpPr>
        <p:spPr>
          <a:xfrm>
            <a:off x="311700" y="1124013"/>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852"/>
              <a:buFont typeface="Arial"/>
              <a:buNone/>
            </a:pPr>
            <a:r>
              <a:rPr b="1" lang="es" sz="1607">
                <a:solidFill>
                  <a:schemeClr val="dk1"/>
                </a:solidFill>
              </a:rPr>
              <a:t>¿Qué son?</a:t>
            </a:r>
            <a:endParaRPr b="1" sz="1607">
              <a:solidFill>
                <a:schemeClr val="dk1"/>
              </a:solidFill>
            </a:endParaRPr>
          </a:p>
          <a:p>
            <a:pPr indent="-320833" lvl="0" marL="457200" rtl="0" algn="l">
              <a:lnSpc>
                <a:spcPct val="95000"/>
              </a:lnSpc>
              <a:spcBef>
                <a:spcPts val="1200"/>
              </a:spcBef>
              <a:spcAft>
                <a:spcPts val="0"/>
              </a:spcAft>
              <a:buClr>
                <a:schemeClr val="dk1"/>
              </a:buClr>
              <a:buSzPts val="1453"/>
              <a:buChar char="●"/>
            </a:pPr>
            <a:r>
              <a:rPr lang="es" sz="1452">
                <a:solidFill>
                  <a:schemeClr val="dk1"/>
                </a:solidFill>
              </a:rPr>
              <a:t>Conjunto de funciones y clases ya programadas.</a:t>
            </a:r>
            <a:endParaRPr sz="1452">
              <a:solidFill>
                <a:schemeClr val="dk1"/>
              </a:solidFill>
            </a:endParaRPr>
          </a:p>
          <a:p>
            <a:pPr indent="-320833" lvl="0" marL="457200" rtl="0" algn="l">
              <a:lnSpc>
                <a:spcPct val="95000"/>
              </a:lnSpc>
              <a:spcBef>
                <a:spcPts val="0"/>
              </a:spcBef>
              <a:spcAft>
                <a:spcPts val="0"/>
              </a:spcAft>
              <a:buClr>
                <a:schemeClr val="dk1"/>
              </a:buClr>
              <a:buSzPts val="1453"/>
              <a:buChar char="●"/>
            </a:pPr>
            <a:r>
              <a:rPr lang="es" sz="1452">
                <a:solidFill>
                  <a:schemeClr val="dk1"/>
                </a:solidFill>
              </a:rPr>
              <a:t>Permiten reutilizar código sin empezar desde cero.</a:t>
            </a:r>
            <a:endParaRPr sz="1452">
              <a:solidFill>
                <a:schemeClr val="dk1"/>
              </a:solidFill>
            </a:endParaRPr>
          </a:p>
          <a:p>
            <a:pPr indent="0" lvl="0" marL="0" rtl="0" algn="l">
              <a:lnSpc>
                <a:spcPct val="95000"/>
              </a:lnSpc>
              <a:spcBef>
                <a:spcPts val="1400"/>
              </a:spcBef>
              <a:spcAft>
                <a:spcPts val="0"/>
              </a:spcAft>
              <a:buClr>
                <a:schemeClr val="dk1"/>
              </a:buClr>
              <a:buSzPts val="852"/>
              <a:buFont typeface="Arial"/>
              <a:buNone/>
            </a:pPr>
            <a:r>
              <a:rPr b="1" lang="es" sz="1607">
                <a:solidFill>
                  <a:schemeClr val="dk1"/>
                </a:solidFill>
              </a:rPr>
              <a:t>¿Para qué sirven?</a:t>
            </a:r>
            <a:endParaRPr b="1" sz="1607">
              <a:solidFill>
                <a:schemeClr val="dk1"/>
              </a:solidFill>
            </a:endParaRPr>
          </a:p>
          <a:p>
            <a:pPr indent="-320833" lvl="0" marL="457200" rtl="0" algn="l">
              <a:lnSpc>
                <a:spcPct val="95000"/>
              </a:lnSpc>
              <a:spcBef>
                <a:spcPts val="1200"/>
              </a:spcBef>
              <a:spcAft>
                <a:spcPts val="0"/>
              </a:spcAft>
              <a:buClr>
                <a:schemeClr val="dk1"/>
              </a:buClr>
              <a:buSzPts val="1453"/>
              <a:buChar char="●"/>
            </a:pPr>
            <a:r>
              <a:rPr lang="es" sz="1452">
                <a:solidFill>
                  <a:schemeClr val="dk1"/>
                </a:solidFill>
              </a:rPr>
              <a:t>Controlar sensores y actuadores.</a:t>
            </a:r>
            <a:endParaRPr sz="1452">
              <a:solidFill>
                <a:schemeClr val="dk1"/>
              </a:solidFill>
            </a:endParaRPr>
          </a:p>
          <a:p>
            <a:pPr indent="-320833" lvl="0" marL="457200" rtl="0" algn="l">
              <a:lnSpc>
                <a:spcPct val="95000"/>
              </a:lnSpc>
              <a:spcBef>
                <a:spcPts val="0"/>
              </a:spcBef>
              <a:spcAft>
                <a:spcPts val="0"/>
              </a:spcAft>
              <a:buClr>
                <a:schemeClr val="dk1"/>
              </a:buClr>
              <a:buSzPts val="1453"/>
              <a:buChar char="●"/>
            </a:pPr>
            <a:r>
              <a:rPr lang="es" sz="1452">
                <a:solidFill>
                  <a:schemeClr val="dk1"/>
                </a:solidFill>
              </a:rPr>
              <a:t>Manejar pantallas, motores, módulos WiFi, etc.</a:t>
            </a:r>
            <a:endParaRPr sz="1452">
              <a:solidFill>
                <a:schemeClr val="dk1"/>
              </a:solidFill>
            </a:endParaRPr>
          </a:p>
          <a:p>
            <a:pPr indent="0" lvl="0" marL="0" rtl="0" algn="l">
              <a:lnSpc>
                <a:spcPct val="95000"/>
              </a:lnSpc>
              <a:spcBef>
                <a:spcPts val="1400"/>
              </a:spcBef>
              <a:spcAft>
                <a:spcPts val="0"/>
              </a:spcAft>
              <a:buClr>
                <a:schemeClr val="dk1"/>
              </a:buClr>
              <a:buSzPts val="852"/>
              <a:buFont typeface="Arial"/>
              <a:buNone/>
            </a:pPr>
            <a:r>
              <a:rPr b="1" lang="es" sz="1607">
                <a:solidFill>
                  <a:schemeClr val="dk1"/>
                </a:solidFill>
              </a:rPr>
              <a:t>Ventajas</a:t>
            </a:r>
            <a:endParaRPr b="1" sz="1607">
              <a:solidFill>
                <a:schemeClr val="dk1"/>
              </a:solidFill>
            </a:endParaRPr>
          </a:p>
          <a:p>
            <a:pPr indent="-320833" lvl="0" marL="457200" rtl="0" algn="l">
              <a:lnSpc>
                <a:spcPct val="95000"/>
              </a:lnSpc>
              <a:spcBef>
                <a:spcPts val="1200"/>
              </a:spcBef>
              <a:spcAft>
                <a:spcPts val="0"/>
              </a:spcAft>
              <a:buClr>
                <a:schemeClr val="dk1"/>
              </a:buClr>
              <a:buSzPts val="1453"/>
              <a:buChar char="●"/>
            </a:pPr>
            <a:r>
              <a:rPr lang="es" sz="1452">
                <a:solidFill>
                  <a:schemeClr val="dk1"/>
                </a:solidFill>
              </a:rPr>
              <a:t>Ahorro de tiempo.</a:t>
            </a:r>
            <a:endParaRPr sz="1452">
              <a:solidFill>
                <a:schemeClr val="dk1"/>
              </a:solidFill>
            </a:endParaRPr>
          </a:p>
          <a:p>
            <a:pPr indent="-320833" lvl="0" marL="457200" rtl="0" algn="l">
              <a:lnSpc>
                <a:spcPct val="95000"/>
              </a:lnSpc>
              <a:spcBef>
                <a:spcPts val="0"/>
              </a:spcBef>
              <a:spcAft>
                <a:spcPts val="0"/>
              </a:spcAft>
              <a:buClr>
                <a:schemeClr val="dk1"/>
              </a:buClr>
              <a:buSzPts val="1453"/>
              <a:buChar char="●"/>
            </a:pPr>
            <a:r>
              <a:rPr lang="es" sz="1452">
                <a:solidFill>
                  <a:schemeClr val="dk1"/>
                </a:solidFill>
              </a:rPr>
              <a:t>Código más ordenado.</a:t>
            </a:r>
            <a:endParaRPr sz="1452">
              <a:solidFill>
                <a:schemeClr val="dk1"/>
              </a:solidFill>
            </a:endParaRPr>
          </a:p>
          <a:p>
            <a:pPr indent="-320833" lvl="0" marL="457200" rtl="0" algn="l">
              <a:lnSpc>
                <a:spcPct val="95000"/>
              </a:lnSpc>
              <a:spcBef>
                <a:spcPts val="0"/>
              </a:spcBef>
              <a:spcAft>
                <a:spcPts val="0"/>
              </a:spcAft>
              <a:buClr>
                <a:schemeClr val="dk1"/>
              </a:buClr>
              <a:buSzPts val="1453"/>
              <a:buChar char="●"/>
            </a:pPr>
            <a:r>
              <a:rPr lang="es" sz="1452">
                <a:solidFill>
                  <a:schemeClr val="dk1"/>
                </a:solidFill>
              </a:rPr>
              <a:t>Mayor fiabilidad.</a:t>
            </a:r>
            <a:endParaRPr sz="1452">
              <a:solidFill>
                <a:schemeClr val="dk1"/>
              </a:solidFill>
            </a:endParaRPr>
          </a:p>
          <a:p>
            <a:pPr indent="0" lvl="0" marL="0" rtl="0" algn="l">
              <a:lnSpc>
                <a:spcPct val="95000"/>
              </a:lnSpc>
              <a:spcBef>
                <a:spcPts val="1400"/>
              </a:spcBef>
              <a:spcAft>
                <a:spcPts val="0"/>
              </a:spcAft>
              <a:buNone/>
            </a:pPr>
            <a:r>
              <a:t/>
            </a:r>
            <a:endParaRPr b="1" sz="1607">
              <a:solidFill>
                <a:schemeClr val="dk1"/>
              </a:solidFill>
            </a:endParaRPr>
          </a:p>
          <a:p>
            <a:pPr indent="0" lvl="0" marL="0" rtl="0" algn="l">
              <a:lnSpc>
                <a:spcPct val="95000"/>
              </a:lnSpc>
              <a:spcBef>
                <a:spcPts val="1200"/>
              </a:spcBef>
              <a:spcAft>
                <a:spcPts val="0"/>
              </a:spcAft>
              <a:buNone/>
            </a:pPr>
            <a:r>
              <a:t/>
            </a:r>
            <a:endParaRPr sz="1452">
              <a:solidFill>
                <a:schemeClr val="dk1"/>
              </a:solidFill>
            </a:endParaRPr>
          </a:p>
          <a:p>
            <a:pPr indent="0" lvl="0" marL="0" rtl="0" algn="l">
              <a:lnSpc>
                <a:spcPct val="95000"/>
              </a:lnSpc>
              <a:spcBef>
                <a:spcPts val="1200"/>
              </a:spcBef>
              <a:spcAft>
                <a:spcPts val="1200"/>
              </a:spcAft>
              <a:buNone/>
            </a:pPr>
            <a:r>
              <a:t/>
            </a:r>
            <a:endParaRPr sz="1452">
              <a:solidFill>
                <a:schemeClr val="dk1"/>
              </a:solidFill>
            </a:endParaRPr>
          </a:p>
        </p:txBody>
      </p:sp>
      <p:pic>
        <p:nvPicPr>
          <p:cNvPr id="384" name="Google Shape;384;p59" title="Captura de pantalla 2026-02-27 a las 17.37.04.png"/>
          <p:cNvPicPr preferRelativeResize="0"/>
          <p:nvPr/>
        </p:nvPicPr>
        <p:blipFill>
          <a:blip r:embed="rId3">
            <a:alphaModFix/>
          </a:blip>
          <a:stretch>
            <a:fillRect/>
          </a:stretch>
        </p:blipFill>
        <p:spPr>
          <a:xfrm>
            <a:off x="6327151" y="0"/>
            <a:ext cx="1995447" cy="51434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0"/>
          <p:cNvSpPr txBox="1"/>
          <p:nvPr>
            <p:ph idx="1" type="body"/>
          </p:nvPr>
        </p:nvSpPr>
        <p:spPr>
          <a:xfrm>
            <a:off x="311700" y="1124013"/>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852"/>
              <a:buNone/>
            </a:pPr>
            <a:r>
              <a:rPr b="1" lang="es" sz="1607">
                <a:solidFill>
                  <a:schemeClr val="dk1"/>
                </a:solidFill>
              </a:rPr>
              <a:t>¿C</a:t>
            </a:r>
            <a:r>
              <a:rPr b="1" lang="es" sz="1607">
                <a:solidFill>
                  <a:schemeClr val="dk1"/>
                </a:solidFill>
              </a:rPr>
              <a:t>ómo se usan</a:t>
            </a:r>
            <a:r>
              <a:rPr b="1" lang="es" sz="1607">
                <a:solidFill>
                  <a:schemeClr val="dk1"/>
                </a:solidFill>
              </a:rPr>
              <a:t>?</a:t>
            </a:r>
            <a:endParaRPr b="1" sz="1607">
              <a:solidFill>
                <a:schemeClr val="dk1"/>
              </a:solidFill>
            </a:endParaRPr>
          </a:p>
          <a:p>
            <a:pPr indent="-320833" lvl="0" marL="457200" rtl="0" algn="l">
              <a:lnSpc>
                <a:spcPct val="95000"/>
              </a:lnSpc>
              <a:spcBef>
                <a:spcPts val="1200"/>
              </a:spcBef>
              <a:spcAft>
                <a:spcPts val="0"/>
              </a:spcAft>
              <a:buClr>
                <a:schemeClr val="dk1"/>
              </a:buClr>
              <a:buSzPts val="1453"/>
              <a:buChar char="●"/>
            </a:pPr>
            <a:r>
              <a:rPr lang="es" sz="1452">
                <a:solidFill>
                  <a:schemeClr val="dk1"/>
                </a:solidFill>
              </a:rPr>
              <a:t>Se las incluye en el principio del programa</a:t>
            </a:r>
            <a:endParaRPr sz="1452">
              <a:solidFill>
                <a:schemeClr val="dk1"/>
              </a:solidFill>
            </a:endParaRPr>
          </a:p>
          <a:p>
            <a:pPr indent="0" lvl="0" marL="0" rtl="0" algn="l">
              <a:lnSpc>
                <a:spcPct val="95000"/>
              </a:lnSpc>
              <a:spcBef>
                <a:spcPts val="1400"/>
              </a:spcBef>
              <a:spcAft>
                <a:spcPts val="0"/>
              </a:spcAft>
              <a:buNone/>
            </a:pPr>
            <a:r>
              <a:t/>
            </a:r>
            <a:endParaRPr b="1" sz="1607">
              <a:solidFill>
                <a:schemeClr val="dk1"/>
              </a:solidFill>
            </a:endParaRPr>
          </a:p>
          <a:p>
            <a:pPr indent="0" lvl="0" marL="0" rtl="0" algn="l">
              <a:lnSpc>
                <a:spcPct val="95000"/>
              </a:lnSpc>
              <a:spcBef>
                <a:spcPts val="1200"/>
              </a:spcBef>
              <a:spcAft>
                <a:spcPts val="0"/>
              </a:spcAft>
              <a:buNone/>
            </a:pPr>
            <a:r>
              <a:t/>
            </a:r>
            <a:endParaRPr sz="1452">
              <a:solidFill>
                <a:schemeClr val="dk1"/>
              </a:solidFill>
            </a:endParaRPr>
          </a:p>
          <a:p>
            <a:pPr indent="0" lvl="0" marL="0" rtl="0" algn="l">
              <a:lnSpc>
                <a:spcPct val="95000"/>
              </a:lnSpc>
              <a:spcBef>
                <a:spcPts val="1400"/>
              </a:spcBef>
              <a:spcAft>
                <a:spcPts val="0"/>
              </a:spcAft>
              <a:buClr>
                <a:schemeClr val="dk1"/>
              </a:buClr>
              <a:buSzPts val="852"/>
              <a:buFont typeface="Arial"/>
              <a:buNone/>
            </a:pPr>
            <a:r>
              <a:rPr b="1" lang="es" sz="1607">
                <a:solidFill>
                  <a:schemeClr val="dk1"/>
                </a:solidFill>
              </a:rPr>
              <a:t>Internas o Externas</a:t>
            </a:r>
            <a:endParaRPr b="1" sz="1607">
              <a:solidFill>
                <a:schemeClr val="dk1"/>
              </a:solidFill>
            </a:endParaRPr>
          </a:p>
          <a:p>
            <a:pPr indent="-320833" lvl="0" marL="457200" rtl="0" algn="l">
              <a:lnSpc>
                <a:spcPct val="95000"/>
              </a:lnSpc>
              <a:spcBef>
                <a:spcPts val="1200"/>
              </a:spcBef>
              <a:spcAft>
                <a:spcPts val="0"/>
              </a:spcAft>
              <a:buClr>
                <a:schemeClr val="dk1"/>
              </a:buClr>
              <a:buSzPts val="1453"/>
              <a:buChar char="●"/>
            </a:pPr>
            <a:r>
              <a:rPr b="1" lang="es" sz="1452">
                <a:solidFill>
                  <a:schemeClr val="dk1"/>
                </a:solidFill>
              </a:rPr>
              <a:t>Internas:</a:t>
            </a:r>
            <a:r>
              <a:rPr lang="es" sz="1452">
                <a:solidFill>
                  <a:schemeClr val="dk1"/>
                </a:solidFill>
              </a:rPr>
              <a:t> Se encuentran dentro del Arduino IDE en la sección Library Manager o Gestor de Librerías</a:t>
            </a:r>
            <a:endParaRPr sz="1452">
              <a:solidFill>
                <a:schemeClr val="dk1"/>
              </a:solidFill>
            </a:endParaRPr>
          </a:p>
          <a:p>
            <a:pPr indent="-320833" lvl="0" marL="457200" rtl="0" algn="l">
              <a:lnSpc>
                <a:spcPct val="95000"/>
              </a:lnSpc>
              <a:spcBef>
                <a:spcPts val="0"/>
              </a:spcBef>
              <a:spcAft>
                <a:spcPts val="0"/>
              </a:spcAft>
              <a:buClr>
                <a:schemeClr val="dk1"/>
              </a:buClr>
              <a:buSzPts val="1453"/>
              <a:buChar char="●"/>
            </a:pPr>
            <a:r>
              <a:rPr b="1" lang="es" sz="1452">
                <a:solidFill>
                  <a:schemeClr val="dk1"/>
                </a:solidFill>
              </a:rPr>
              <a:t>Externas: </a:t>
            </a:r>
            <a:r>
              <a:rPr lang="es" sz="1452">
                <a:solidFill>
                  <a:schemeClr val="dk1"/>
                </a:solidFill>
              </a:rPr>
              <a:t>Se descargan como archivo .zip y son agregadas desde Sketch/Include Library/ Add .zip library</a:t>
            </a:r>
            <a:endParaRPr sz="1452">
              <a:solidFill>
                <a:schemeClr val="dk1"/>
              </a:solidFill>
            </a:endParaRPr>
          </a:p>
        </p:txBody>
      </p:sp>
      <p:sp>
        <p:nvSpPr>
          <p:cNvPr id="390" name="Google Shape;39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Uso de las librer</a:t>
            </a:r>
            <a:r>
              <a:rPr b="1" lang="es"/>
              <a:t>ías en Arduino</a:t>
            </a:r>
            <a:endParaRPr b="1"/>
          </a:p>
        </p:txBody>
      </p:sp>
      <p:pic>
        <p:nvPicPr>
          <p:cNvPr id="391" name="Google Shape;391;p60" title="Captura de pantalla 2026-02-27 a las 17.43.10.png"/>
          <p:cNvPicPr preferRelativeResize="0"/>
          <p:nvPr/>
        </p:nvPicPr>
        <p:blipFill>
          <a:blip r:embed="rId3">
            <a:alphaModFix/>
          </a:blip>
          <a:stretch>
            <a:fillRect/>
          </a:stretch>
        </p:blipFill>
        <p:spPr>
          <a:xfrm>
            <a:off x="612650" y="1967050"/>
            <a:ext cx="3959350" cy="4772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1"/>
          <p:cNvSpPr txBox="1"/>
          <p:nvPr>
            <p:ph type="title"/>
          </p:nvPr>
        </p:nvSpPr>
        <p:spPr>
          <a:xfrm>
            <a:off x="311700" y="230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Protocolos de comunicaci</a:t>
            </a:r>
            <a:r>
              <a:rPr b="1" lang="es"/>
              <a:t>ón Arduino</a:t>
            </a:r>
            <a:endParaRPr b="1"/>
          </a:p>
        </p:txBody>
      </p:sp>
      <p:sp>
        <p:nvSpPr>
          <p:cNvPr id="397" name="Google Shape;397;p61"/>
          <p:cNvSpPr txBox="1"/>
          <p:nvPr>
            <p:ph idx="1" type="body"/>
          </p:nvPr>
        </p:nvSpPr>
        <p:spPr>
          <a:xfrm>
            <a:off x="311700" y="803088"/>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852"/>
              <a:buNone/>
            </a:pPr>
            <a:r>
              <a:rPr b="1" lang="es" sz="1607">
                <a:solidFill>
                  <a:schemeClr val="dk1"/>
                </a:solidFill>
              </a:rPr>
              <a:t>¿Qué es un protocolo de comunicación?</a:t>
            </a:r>
            <a:endParaRPr b="1" sz="1607">
              <a:solidFill>
                <a:schemeClr val="dk1"/>
              </a:solidFill>
            </a:endParaRPr>
          </a:p>
          <a:p>
            <a:pPr indent="-320833" lvl="0" marL="457200" rtl="0" algn="l">
              <a:spcBef>
                <a:spcPts val="1200"/>
              </a:spcBef>
              <a:spcAft>
                <a:spcPts val="0"/>
              </a:spcAft>
              <a:buClr>
                <a:schemeClr val="dk1"/>
              </a:buClr>
              <a:buSzPts val="1453"/>
              <a:buChar char="●"/>
            </a:pPr>
            <a:r>
              <a:rPr lang="es" sz="1452">
                <a:solidFill>
                  <a:schemeClr val="dk1"/>
                </a:solidFill>
              </a:rPr>
              <a:t>Conjunto de reglas que permiten que dispositivos intercambien datos.</a:t>
            </a:r>
            <a:endParaRPr sz="1452">
              <a:solidFill>
                <a:schemeClr val="dk1"/>
              </a:solidFill>
            </a:endParaRPr>
          </a:p>
          <a:p>
            <a:pPr indent="0" lvl="0" marL="0" rtl="0" algn="l">
              <a:lnSpc>
                <a:spcPct val="95000"/>
              </a:lnSpc>
              <a:spcBef>
                <a:spcPts val="1400"/>
              </a:spcBef>
              <a:spcAft>
                <a:spcPts val="0"/>
              </a:spcAft>
              <a:buNone/>
            </a:pPr>
            <a:r>
              <a:rPr b="1" lang="es" sz="1607">
                <a:solidFill>
                  <a:schemeClr val="dk1"/>
                </a:solidFill>
              </a:rPr>
              <a:t>Principales protocolos de comunicación en Arduino:</a:t>
            </a:r>
            <a:endParaRPr b="1" sz="1607">
              <a:solidFill>
                <a:schemeClr val="dk1"/>
              </a:solidFill>
            </a:endParaRPr>
          </a:p>
          <a:p>
            <a:pPr indent="-320833" lvl="0" marL="457200" rtl="0" algn="l">
              <a:spcBef>
                <a:spcPts val="1200"/>
              </a:spcBef>
              <a:spcAft>
                <a:spcPts val="0"/>
              </a:spcAft>
              <a:buClr>
                <a:schemeClr val="dk1"/>
              </a:buClr>
              <a:buSzPts val="1453"/>
              <a:buChar char="●"/>
            </a:pPr>
            <a:r>
              <a:rPr lang="es" sz="1452">
                <a:solidFill>
                  <a:schemeClr val="dk1"/>
                </a:solidFill>
              </a:rPr>
              <a:t>UART (Serial)</a:t>
            </a:r>
            <a:endParaRPr sz="1452">
              <a:solidFill>
                <a:schemeClr val="dk1"/>
              </a:solidFill>
            </a:endParaRPr>
          </a:p>
          <a:p>
            <a:pPr indent="-320833" lvl="1" marL="914400" rtl="0" algn="l">
              <a:spcBef>
                <a:spcPts val="0"/>
              </a:spcBef>
              <a:spcAft>
                <a:spcPts val="0"/>
              </a:spcAft>
              <a:buClr>
                <a:schemeClr val="dk1"/>
              </a:buClr>
              <a:buSzPts val="1453"/>
              <a:buChar char="○"/>
            </a:pPr>
            <a:r>
              <a:rPr lang="es" sz="1452">
                <a:solidFill>
                  <a:schemeClr val="dk1"/>
                </a:solidFill>
              </a:rPr>
              <a:t>Pines Tx - Rx</a:t>
            </a:r>
            <a:endParaRPr sz="1452">
              <a:solidFill>
                <a:schemeClr val="dk1"/>
              </a:solidFill>
            </a:endParaRPr>
          </a:p>
          <a:p>
            <a:pPr indent="-320833" lvl="1" marL="914400" rtl="0" algn="l">
              <a:spcBef>
                <a:spcPts val="0"/>
              </a:spcBef>
              <a:spcAft>
                <a:spcPts val="0"/>
              </a:spcAft>
              <a:buClr>
                <a:schemeClr val="dk1"/>
              </a:buClr>
              <a:buSzPts val="1453"/>
              <a:buChar char="○"/>
            </a:pPr>
            <a:r>
              <a:rPr lang="es" sz="1452">
                <a:solidFill>
                  <a:schemeClr val="dk1"/>
                </a:solidFill>
              </a:rPr>
              <a:t>ej: Comunicación con PC</a:t>
            </a:r>
            <a:endParaRPr sz="1452">
              <a:solidFill>
                <a:schemeClr val="dk1"/>
              </a:solidFill>
            </a:endParaRPr>
          </a:p>
          <a:p>
            <a:pPr indent="-320833" lvl="0" marL="457200" rtl="0" algn="l">
              <a:spcBef>
                <a:spcPts val="0"/>
              </a:spcBef>
              <a:spcAft>
                <a:spcPts val="0"/>
              </a:spcAft>
              <a:buClr>
                <a:schemeClr val="dk1"/>
              </a:buClr>
              <a:buSzPts val="1453"/>
              <a:buChar char="●"/>
            </a:pPr>
            <a:r>
              <a:rPr lang="es" sz="1452">
                <a:solidFill>
                  <a:schemeClr val="dk1"/>
                </a:solidFill>
              </a:rPr>
              <a:t>I2C</a:t>
            </a:r>
            <a:endParaRPr sz="1452">
              <a:solidFill>
                <a:schemeClr val="dk1"/>
              </a:solidFill>
            </a:endParaRPr>
          </a:p>
          <a:p>
            <a:pPr indent="-320833" lvl="1" marL="914400" rtl="0" algn="l">
              <a:spcBef>
                <a:spcPts val="0"/>
              </a:spcBef>
              <a:spcAft>
                <a:spcPts val="0"/>
              </a:spcAft>
              <a:buClr>
                <a:schemeClr val="dk1"/>
              </a:buClr>
              <a:buSzPts val="1453"/>
              <a:buChar char="○"/>
            </a:pPr>
            <a:r>
              <a:rPr lang="es" sz="1452">
                <a:solidFill>
                  <a:schemeClr val="dk1"/>
                </a:solidFill>
              </a:rPr>
              <a:t>Pines SDA - SCL</a:t>
            </a:r>
            <a:endParaRPr sz="1452">
              <a:solidFill>
                <a:schemeClr val="dk1"/>
              </a:solidFill>
            </a:endParaRPr>
          </a:p>
          <a:p>
            <a:pPr indent="-320833" lvl="1" marL="914400" rtl="0" algn="l">
              <a:spcBef>
                <a:spcPts val="0"/>
              </a:spcBef>
              <a:spcAft>
                <a:spcPts val="0"/>
              </a:spcAft>
              <a:buClr>
                <a:schemeClr val="dk1"/>
              </a:buClr>
              <a:buSzPts val="1453"/>
              <a:buChar char="○"/>
            </a:pPr>
            <a:r>
              <a:rPr lang="es" sz="1452">
                <a:solidFill>
                  <a:schemeClr val="dk1"/>
                </a:solidFill>
              </a:rPr>
              <a:t>Permite múltiples dispositivos. </a:t>
            </a:r>
            <a:r>
              <a:rPr lang="es" sz="1452">
                <a:solidFill>
                  <a:schemeClr val="dk1"/>
                </a:solidFill>
              </a:rPr>
              <a:t>Cada uno con su ID</a:t>
            </a:r>
            <a:endParaRPr sz="1452">
              <a:solidFill>
                <a:schemeClr val="dk1"/>
              </a:solidFill>
            </a:endParaRPr>
          </a:p>
          <a:p>
            <a:pPr indent="-320833" lvl="0" marL="457200" rtl="0" algn="l">
              <a:spcBef>
                <a:spcPts val="0"/>
              </a:spcBef>
              <a:spcAft>
                <a:spcPts val="0"/>
              </a:spcAft>
              <a:buClr>
                <a:schemeClr val="dk1"/>
              </a:buClr>
              <a:buSzPts val="1453"/>
              <a:buChar char="●"/>
            </a:pPr>
            <a:r>
              <a:rPr lang="es" sz="1452">
                <a:solidFill>
                  <a:schemeClr val="dk1"/>
                </a:solidFill>
              </a:rPr>
              <a:t>SPI</a:t>
            </a:r>
            <a:endParaRPr sz="1452">
              <a:solidFill>
                <a:schemeClr val="dk1"/>
              </a:solidFill>
            </a:endParaRPr>
          </a:p>
          <a:p>
            <a:pPr indent="-320833" lvl="1" marL="914400" rtl="0" algn="l">
              <a:spcBef>
                <a:spcPts val="0"/>
              </a:spcBef>
              <a:spcAft>
                <a:spcPts val="0"/>
              </a:spcAft>
              <a:buClr>
                <a:schemeClr val="dk1"/>
              </a:buClr>
              <a:buSzPts val="1453"/>
              <a:buChar char="○"/>
            </a:pPr>
            <a:r>
              <a:rPr lang="es" sz="1452">
                <a:solidFill>
                  <a:schemeClr val="dk1"/>
                </a:solidFill>
              </a:rPr>
              <a:t>Comunicación rápida</a:t>
            </a:r>
            <a:endParaRPr sz="1452">
              <a:solidFill>
                <a:schemeClr val="dk1"/>
              </a:solidFill>
            </a:endParaRPr>
          </a:p>
          <a:p>
            <a:pPr indent="-320833" lvl="1" marL="914400" rtl="0" algn="l">
              <a:spcBef>
                <a:spcPts val="0"/>
              </a:spcBef>
              <a:spcAft>
                <a:spcPts val="0"/>
              </a:spcAft>
              <a:buClr>
                <a:schemeClr val="dk1"/>
              </a:buClr>
              <a:buSzPts val="1453"/>
              <a:buChar char="○"/>
            </a:pPr>
            <a:r>
              <a:rPr lang="es" sz="1452">
                <a:solidFill>
                  <a:schemeClr val="dk1"/>
                </a:solidFill>
              </a:rPr>
              <a:t>4 líneas (MOSI, MISO, SCK, CS</a:t>
            </a:r>
            <a:r>
              <a:rPr lang="es" sz="1452">
                <a:solidFill>
                  <a:schemeClr val="dk1"/>
                </a:solidFill>
              </a:rPr>
              <a:t>)</a:t>
            </a:r>
            <a:endParaRPr sz="1452">
              <a:solidFill>
                <a:schemeClr val="dk1"/>
              </a:solidFill>
            </a:endParaRPr>
          </a:p>
          <a:p>
            <a:pPr indent="-320833" lvl="1" marL="914400" rtl="0" algn="l">
              <a:spcBef>
                <a:spcPts val="0"/>
              </a:spcBef>
              <a:spcAft>
                <a:spcPts val="0"/>
              </a:spcAft>
              <a:buClr>
                <a:schemeClr val="dk1"/>
              </a:buClr>
              <a:buSzPts val="1453"/>
              <a:buChar char="○"/>
            </a:pPr>
            <a:r>
              <a:rPr lang="es" sz="1452">
                <a:solidFill>
                  <a:schemeClr val="dk1"/>
                </a:solidFill>
              </a:rPr>
              <a:t>Ej: Memoria SD o Pantallas complejas</a:t>
            </a:r>
            <a:endParaRPr sz="1452">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62" title="Captura de pantalla 2026-02-24 a las 15.37.30.png"/>
          <p:cNvPicPr preferRelativeResize="0"/>
          <p:nvPr/>
        </p:nvPicPr>
        <p:blipFill>
          <a:blip r:embed="rId3">
            <a:alphaModFix/>
          </a:blip>
          <a:stretch>
            <a:fillRect/>
          </a:stretch>
        </p:blipFill>
        <p:spPr>
          <a:xfrm>
            <a:off x="4572000" y="882000"/>
            <a:ext cx="3852325" cy="4261501"/>
          </a:xfrm>
          <a:prstGeom prst="rect">
            <a:avLst/>
          </a:prstGeom>
          <a:noFill/>
          <a:ln>
            <a:noFill/>
          </a:ln>
        </p:spPr>
      </p:pic>
      <p:sp>
        <p:nvSpPr>
          <p:cNvPr id="403" name="Google Shape;403;p62"/>
          <p:cNvSpPr txBox="1"/>
          <p:nvPr>
            <p:ph type="title"/>
          </p:nvPr>
        </p:nvSpPr>
        <p:spPr>
          <a:xfrm>
            <a:off x="311700" y="365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Kit Base</a:t>
            </a:r>
            <a:r>
              <a:rPr b="1" lang="es"/>
              <a:t>: Display LCD 16x02</a:t>
            </a:r>
            <a:endParaRPr b="1"/>
          </a:p>
        </p:txBody>
      </p:sp>
      <p:sp>
        <p:nvSpPr>
          <p:cNvPr id="404" name="Google Shape;404;p62"/>
          <p:cNvSpPr txBox="1"/>
          <p:nvPr>
            <p:ph idx="1" type="body"/>
          </p:nvPr>
        </p:nvSpPr>
        <p:spPr>
          <a:xfrm>
            <a:off x="139725" y="1152475"/>
            <a:ext cx="26268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t>Conexiones:</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s" sz="1600"/>
              <a:t>GND - GND LCD </a:t>
            </a:r>
            <a:endParaRPr sz="1600"/>
          </a:p>
          <a:p>
            <a:pPr indent="0" lvl="0" marL="0" rtl="0" algn="l">
              <a:spcBef>
                <a:spcPts val="1200"/>
              </a:spcBef>
              <a:spcAft>
                <a:spcPts val="0"/>
              </a:spcAft>
              <a:buNone/>
            </a:pPr>
            <a:r>
              <a:rPr lang="es" sz="1600"/>
              <a:t>+5v -  VCC LCD</a:t>
            </a:r>
            <a:endParaRPr sz="1600"/>
          </a:p>
          <a:p>
            <a:pPr indent="0" lvl="0" marL="0" rtl="0" algn="l">
              <a:spcBef>
                <a:spcPts val="1200"/>
              </a:spcBef>
              <a:spcAft>
                <a:spcPts val="0"/>
              </a:spcAft>
              <a:buNone/>
            </a:pPr>
            <a:r>
              <a:rPr lang="es" sz="1600"/>
              <a:t>Pin A4 - SDA LCD</a:t>
            </a:r>
            <a:endParaRPr sz="1600"/>
          </a:p>
          <a:p>
            <a:pPr indent="0" lvl="0" marL="0" rtl="0" algn="l">
              <a:spcBef>
                <a:spcPts val="1200"/>
              </a:spcBef>
              <a:spcAft>
                <a:spcPts val="1200"/>
              </a:spcAft>
              <a:buNone/>
            </a:pPr>
            <a:r>
              <a:rPr lang="es" sz="1600"/>
              <a:t>Pin A5 - SCL LCD</a:t>
            </a:r>
            <a:endParaRPr sz="16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63" title="Captura de pantalla 2026-02-27 a las 17.57.20.png"/>
          <p:cNvPicPr preferRelativeResize="0"/>
          <p:nvPr/>
        </p:nvPicPr>
        <p:blipFill>
          <a:blip r:embed="rId3">
            <a:alphaModFix/>
          </a:blip>
          <a:stretch>
            <a:fillRect/>
          </a:stretch>
        </p:blipFill>
        <p:spPr>
          <a:xfrm>
            <a:off x="456340" y="0"/>
            <a:ext cx="8231320" cy="5143500"/>
          </a:xfrm>
          <a:prstGeom prst="rect">
            <a:avLst/>
          </a:prstGeom>
          <a:noFill/>
          <a:ln>
            <a:noFill/>
          </a:ln>
        </p:spPr>
      </p:pic>
      <p:cxnSp>
        <p:nvCxnSpPr>
          <p:cNvPr id="410" name="Google Shape;410;p63"/>
          <p:cNvCxnSpPr/>
          <p:nvPr/>
        </p:nvCxnSpPr>
        <p:spPr>
          <a:xfrm rot="10800000">
            <a:off x="3407550" y="939075"/>
            <a:ext cx="711000" cy="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id="415" name="Google Shape;415;p64" title="Captura de pantalla 2026-02-24 a las 15.37.43.png"/>
          <p:cNvPicPr preferRelativeResize="0"/>
          <p:nvPr/>
        </p:nvPicPr>
        <p:blipFill>
          <a:blip r:embed="rId3">
            <a:alphaModFix/>
          </a:blip>
          <a:stretch>
            <a:fillRect/>
          </a:stretch>
        </p:blipFill>
        <p:spPr>
          <a:xfrm>
            <a:off x="4347100" y="786929"/>
            <a:ext cx="4404551" cy="4356572"/>
          </a:xfrm>
          <a:prstGeom prst="rect">
            <a:avLst/>
          </a:prstGeom>
          <a:noFill/>
          <a:ln>
            <a:noFill/>
          </a:ln>
        </p:spPr>
      </p:pic>
      <p:sp>
        <p:nvSpPr>
          <p:cNvPr id="416" name="Google Shape;416;p64"/>
          <p:cNvSpPr txBox="1"/>
          <p:nvPr>
            <p:ph type="title"/>
          </p:nvPr>
        </p:nvSpPr>
        <p:spPr>
          <a:xfrm>
            <a:off x="311700" y="365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Kit Base: Display LCD 16x02 + RTC</a:t>
            </a:r>
            <a:endParaRPr b="1"/>
          </a:p>
        </p:txBody>
      </p:sp>
      <p:sp>
        <p:nvSpPr>
          <p:cNvPr id="417" name="Google Shape;417;p64"/>
          <p:cNvSpPr txBox="1"/>
          <p:nvPr>
            <p:ph idx="1" type="body"/>
          </p:nvPr>
        </p:nvSpPr>
        <p:spPr>
          <a:xfrm>
            <a:off x="139725" y="1152475"/>
            <a:ext cx="26268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t>Conexiones:</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s" sz="1600"/>
              <a:t>GND - GND LCD y RTC </a:t>
            </a:r>
            <a:endParaRPr sz="1600"/>
          </a:p>
          <a:p>
            <a:pPr indent="0" lvl="0" marL="0" rtl="0" algn="l">
              <a:spcBef>
                <a:spcPts val="1200"/>
              </a:spcBef>
              <a:spcAft>
                <a:spcPts val="0"/>
              </a:spcAft>
              <a:buNone/>
            </a:pPr>
            <a:r>
              <a:rPr lang="es" sz="1600"/>
              <a:t>+5v -  VCC LCD y RTC</a:t>
            </a:r>
            <a:endParaRPr sz="1600"/>
          </a:p>
          <a:p>
            <a:pPr indent="0" lvl="0" marL="0" rtl="0" algn="l">
              <a:spcBef>
                <a:spcPts val="1200"/>
              </a:spcBef>
              <a:spcAft>
                <a:spcPts val="0"/>
              </a:spcAft>
              <a:buNone/>
            </a:pPr>
            <a:r>
              <a:rPr lang="es" sz="1600"/>
              <a:t>Pin A4 - SDA LCD y RTC</a:t>
            </a:r>
            <a:endParaRPr sz="1600"/>
          </a:p>
          <a:p>
            <a:pPr indent="0" lvl="0" marL="0" rtl="0" algn="l">
              <a:spcBef>
                <a:spcPts val="1200"/>
              </a:spcBef>
              <a:spcAft>
                <a:spcPts val="1200"/>
              </a:spcAft>
              <a:buNone/>
            </a:pPr>
            <a:r>
              <a:rPr lang="es" sz="1600"/>
              <a:t>Pin A5 - SCL LCD y RTC</a:t>
            </a:r>
            <a:endParaRPr sz="16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65" title="Captura de pantalla 2026-02-24 a las 15.38.18.png"/>
          <p:cNvPicPr preferRelativeResize="0"/>
          <p:nvPr/>
        </p:nvPicPr>
        <p:blipFill>
          <a:blip r:embed="rId3">
            <a:alphaModFix/>
          </a:blip>
          <a:stretch>
            <a:fillRect/>
          </a:stretch>
        </p:blipFill>
        <p:spPr>
          <a:xfrm>
            <a:off x="4571999" y="778425"/>
            <a:ext cx="4355051" cy="4232801"/>
          </a:xfrm>
          <a:prstGeom prst="rect">
            <a:avLst/>
          </a:prstGeom>
          <a:noFill/>
          <a:ln>
            <a:noFill/>
          </a:ln>
        </p:spPr>
      </p:pic>
      <p:sp>
        <p:nvSpPr>
          <p:cNvPr id="423" name="Google Shape;423;p65"/>
          <p:cNvSpPr txBox="1"/>
          <p:nvPr>
            <p:ph type="title"/>
          </p:nvPr>
        </p:nvSpPr>
        <p:spPr>
          <a:xfrm>
            <a:off x="311700" y="365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Kit Base completo: Display LCD 16x02 + RTC + SD</a:t>
            </a:r>
            <a:endParaRPr b="1"/>
          </a:p>
        </p:txBody>
      </p:sp>
      <p:sp>
        <p:nvSpPr>
          <p:cNvPr id="424" name="Google Shape;424;p65"/>
          <p:cNvSpPr txBox="1"/>
          <p:nvPr>
            <p:ph idx="1" type="body"/>
          </p:nvPr>
        </p:nvSpPr>
        <p:spPr>
          <a:xfrm>
            <a:off x="139725" y="1152475"/>
            <a:ext cx="3418800" cy="399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sz="1600"/>
              <a:t>Conexiones:</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s" sz="1600"/>
              <a:t>GND - GND LCD, RTC y SD </a:t>
            </a:r>
            <a:endParaRPr sz="1600"/>
          </a:p>
          <a:p>
            <a:pPr indent="0" lvl="0" marL="0" rtl="0" algn="l">
              <a:spcBef>
                <a:spcPts val="1200"/>
              </a:spcBef>
              <a:spcAft>
                <a:spcPts val="0"/>
              </a:spcAft>
              <a:buNone/>
            </a:pPr>
            <a:r>
              <a:rPr lang="es" sz="1600"/>
              <a:t>+5v -  VCC LCD, RTC y SD</a:t>
            </a:r>
            <a:endParaRPr sz="1600"/>
          </a:p>
          <a:p>
            <a:pPr indent="0" lvl="0" marL="0" rtl="0" algn="l">
              <a:spcBef>
                <a:spcPts val="1200"/>
              </a:spcBef>
              <a:spcAft>
                <a:spcPts val="0"/>
              </a:spcAft>
              <a:buNone/>
            </a:pPr>
            <a:r>
              <a:rPr lang="es" sz="1600"/>
              <a:t>Pin A4 - SDA LCD, RTC y SD</a:t>
            </a:r>
            <a:endParaRPr sz="1600"/>
          </a:p>
          <a:p>
            <a:pPr indent="0" lvl="0" marL="0" rtl="0" algn="l">
              <a:spcBef>
                <a:spcPts val="1200"/>
              </a:spcBef>
              <a:spcAft>
                <a:spcPts val="0"/>
              </a:spcAft>
              <a:buNone/>
            </a:pPr>
            <a:r>
              <a:rPr lang="es" sz="1600"/>
              <a:t>Pin A5 - SCL LCD, RTC y SD</a:t>
            </a:r>
            <a:endParaRPr sz="1600"/>
          </a:p>
          <a:p>
            <a:pPr indent="0" lvl="0" marL="0" rtl="0" algn="l">
              <a:spcBef>
                <a:spcPts val="1200"/>
              </a:spcBef>
              <a:spcAft>
                <a:spcPts val="0"/>
              </a:spcAft>
              <a:buNone/>
            </a:pPr>
            <a:r>
              <a:rPr lang="es" sz="1600"/>
              <a:t>Pin 10 - CS SD</a:t>
            </a:r>
            <a:endParaRPr sz="1600"/>
          </a:p>
          <a:p>
            <a:pPr indent="0" lvl="0" marL="0" rtl="0" algn="l">
              <a:spcBef>
                <a:spcPts val="1200"/>
              </a:spcBef>
              <a:spcAft>
                <a:spcPts val="0"/>
              </a:spcAft>
              <a:buNone/>
            </a:pPr>
            <a:r>
              <a:rPr lang="es" sz="1600"/>
              <a:t>Pin 11 - MOSI SD</a:t>
            </a:r>
            <a:endParaRPr sz="1600"/>
          </a:p>
          <a:p>
            <a:pPr indent="0" lvl="0" marL="0" rtl="0" algn="l">
              <a:spcBef>
                <a:spcPts val="1200"/>
              </a:spcBef>
              <a:spcAft>
                <a:spcPts val="0"/>
              </a:spcAft>
              <a:buNone/>
            </a:pPr>
            <a:r>
              <a:rPr lang="es" sz="1600"/>
              <a:t>Pin 12 - MISO SD</a:t>
            </a:r>
            <a:endParaRPr sz="1600"/>
          </a:p>
          <a:p>
            <a:pPr indent="0" lvl="0" marL="0" rtl="0" algn="l">
              <a:spcBef>
                <a:spcPts val="1200"/>
              </a:spcBef>
              <a:spcAft>
                <a:spcPts val="1200"/>
              </a:spcAft>
              <a:buClr>
                <a:schemeClr val="dk1"/>
              </a:buClr>
              <a:buSzPts val="1100"/>
              <a:buFont typeface="Arial"/>
              <a:buNone/>
            </a:pPr>
            <a:r>
              <a:rPr lang="es" sz="1600"/>
              <a:t>Pin 13 - SCK SD</a:t>
            </a: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66" title="Captura de pantalla 2026-02-24 a las 16.06.19.png"/>
          <p:cNvPicPr preferRelativeResize="0"/>
          <p:nvPr/>
        </p:nvPicPr>
        <p:blipFill>
          <a:blip r:embed="rId3">
            <a:alphaModFix/>
          </a:blip>
          <a:stretch>
            <a:fillRect/>
          </a:stretch>
        </p:blipFill>
        <p:spPr>
          <a:xfrm>
            <a:off x="3333725" y="1152475"/>
            <a:ext cx="5810274" cy="3799251"/>
          </a:xfrm>
          <a:prstGeom prst="rect">
            <a:avLst/>
          </a:prstGeom>
          <a:noFill/>
          <a:ln>
            <a:noFill/>
          </a:ln>
        </p:spPr>
      </p:pic>
      <p:sp>
        <p:nvSpPr>
          <p:cNvPr id="430" name="Google Shape;430;p66"/>
          <p:cNvSpPr txBox="1"/>
          <p:nvPr>
            <p:ph type="title"/>
          </p:nvPr>
        </p:nvSpPr>
        <p:spPr>
          <a:xfrm>
            <a:off x="311700" y="365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Kit H2O completo: Base + Sensores</a:t>
            </a:r>
            <a:endParaRPr b="1"/>
          </a:p>
        </p:txBody>
      </p:sp>
      <p:sp>
        <p:nvSpPr>
          <p:cNvPr id="431" name="Google Shape;431;p66"/>
          <p:cNvSpPr txBox="1"/>
          <p:nvPr>
            <p:ph idx="1" type="body"/>
          </p:nvPr>
        </p:nvSpPr>
        <p:spPr>
          <a:xfrm>
            <a:off x="151050" y="938350"/>
            <a:ext cx="3418800" cy="3990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s" sz="980"/>
              <a:t>Conexiones:</a:t>
            </a:r>
            <a:endParaRPr sz="980"/>
          </a:p>
          <a:p>
            <a:pPr indent="0" lvl="0" marL="0" rtl="0" algn="l">
              <a:lnSpc>
                <a:spcPct val="95000"/>
              </a:lnSpc>
              <a:spcBef>
                <a:spcPts val="1200"/>
              </a:spcBef>
              <a:spcAft>
                <a:spcPts val="0"/>
              </a:spcAft>
              <a:buSzPts val="605"/>
              <a:buNone/>
            </a:pPr>
            <a:r>
              <a:rPr lang="es" sz="980"/>
              <a:t>Pin Arduino - Pin Componente</a:t>
            </a:r>
            <a:endParaRPr sz="980"/>
          </a:p>
          <a:p>
            <a:pPr indent="0" lvl="0" marL="0" rtl="0" algn="l">
              <a:lnSpc>
                <a:spcPct val="95000"/>
              </a:lnSpc>
              <a:spcBef>
                <a:spcPts val="1200"/>
              </a:spcBef>
              <a:spcAft>
                <a:spcPts val="0"/>
              </a:spcAft>
              <a:buSzPts val="605"/>
              <a:buNone/>
            </a:pPr>
            <a:r>
              <a:rPr lang="es" sz="980"/>
              <a:t>GND - GND: LCD, RTC y SD </a:t>
            </a:r>
            <a:endParaRPr sz="980"/>
          </a:p>
          <a:p>
            <a:pPr indent="0" lvl="0" marL="0" rtl="0" algn="l">
              <a:lnSpc>
                <a:spcPct val="95000"/>
              </a:lnSpc>
              <a:spcBef>
                <a:spcPts val="1200"/>
              </a:spcBef>
              <a:spcAft>
                <a:spcPts val="0"/>
              </a:spcAft>
              <a:buSzPts val="605"/>
              <a:buNone/>
            </a:pPr>
            <a:r>
              <a:rPr lang="es" sz="980"/>
              <a:t>+5v -  VCC: LCD, RTC y SD</a:t>
            </a:r>
            <a:endParaRPr sz="980"/>
          </a:p>
          <a:p>
            <a:pPr indent="0" lvl="0" marL="0" rtl="0" algn="l">
              <a:lnSpc>
                <a:spcPct val="95000"/>
              </a:lnSpc>
              <a:spcBef>
                <a:spcPts val="1200"/>
              </a:spcBef>
              <a:spcAft>
                <a:spcPts val="0"/>
              </a:spcAft>
              <a:buSzPts val="605"/>
              <a:buNone/>
            </a:pPr>
            <a:r>
              <a:rPr lang="es" sz="980"/>
              <a:t>A0 - Out </a:t>
            </a:r>
            <a:r>
              <a:rPr lang="es" sz="980"/>
              <a:t>Turbidez</a:t>
            </a:r>
            <a:endParaRPr sz="980"/>
          </a:p>
          <a:p>
            <a:pPr indent="0" lvl="0" marL="0" rtl="0" algn="l">
              <a:lnSpc>
                <a:spcPct val="95000"/>
              </a:lnSpc>
              <a:spcBef>
                <a:spcPts val="1200"/>
              </a:spcBef>
              <a:spcAft>
                <a:spcPts val="0"/>
              </a:spcAft>
              <a:buSzPts val="605"/>
              <a:buNone/>
            </a:pPr>
            <a:r>
              <a:rPr lang="es" sz="980"/>
              <a:t>A1 - Out TDS</a:t>
            </a:r>
            <a:endParaRPr sz="980"/>
          </a:p>
          <a:p>
            <a:pPr indent="0" lvl="0" marL="0" rtl="0" algn="l">
              <a:lnSpc>
                <a:spcPct val="95000"/>
              </a:lnSpc>
              <a:spcBef>
                <a:spcPts val="1200"/>
              </a:spcBef>
              <a:spcAft>
                <a:spcPts val="0"/>
              </a:spcAft>
              <a:buSzPts val="605"/>
              <a:buNone/>
            </a:pPr>
            <a:r>
              <a:rPr lang="es" sz="980"/>
              <a:t>A2/A3 - pH / DO / EC</a:t>
            </a:r>
            <a:endParaRPr sz="980"/>
          </a:p>
          <a:p>
            <a:pPr indent="0" lvl="0" marL="0" rtl="0" algn="l">
              <a:lnSpc>
                <a:spcPct val="95000"/>
              </a:lnSpc>
              <a:spcBef>
                <a:spcPts val="1200"/>
              </a:spcBef>
              <a:spcAft>
                <a:spcPts val="0"/>
              </a:spcAft>
              <a:buSzPts val="605"/>
              <a:buNone/>
            </a:pPr>
            <a:r>
              <a:rPr lang="es" sz="980"/>
              <a:t>A4 - SDA: LCD, RTC</a:t>
            </a:r>
            <a:r>
              <a:rPr lang="es" sz="980"/>
              <a:t> y</a:t>
            </a:r>
            <a:r>
              <a:rPr lang="es" sz="980"/>
              <a:t> SD</a:t>
            </a:r>
            <a:endParaRPr sz="980"/>
          </a:p>
          <a:p>
            <a:pPr indent="0" lvl="0" marL="0" rtl="0" algn="l">
              <a:lnSpc>
                <a:spcPct val="95000"/>
              </a:lnSpc>
              <a:spcBef>
                <a:spcPts val="1200"/>
              </a:spcBef>
              <a:spcAft>
                <a:spcPts val="0"/>
              </a:spcAft>
              <a:buSzPts val="605"/>
              <a:buNone/>
            </a:pPr>
            <a:r>
              <a:rPr lang="es" sz="980"/>
              <a:t>A5 - SCL: LCD, RTC y SD</a:t>
            </a:r>
            <a:endParaRPr sz="980"/>
          </a:p>
          <a:p>
            <a:pPr indent="0" lvl="0" marL="0" rtl="0" algn="l">
              <a:lnSpc>
                <a:spcPct val="95000"/>
              </a:lnSpc>
              <a:spcBef>
                <a:spcPts val="1200"/>
              </a:spcBef>
              <a:spcAft>
                <a:spcPts val="0"/>
              </a:spcAft>
              <a:buSzPts val="605"/>
              <a:buNone/>
            </a:pPr>
            <a:r>
              <a:rPr lang="es" sz="980"/>
              <a:t>2 - Temperatura</a:t>
            </a:r>
            <a:endParaRPr sz="980"/>
          </a:p>
          <a:p>
            <a:pPr indent="0" lvl="0" marL="0" rtl="0" algn="l">
              <a:lnSpc>
                <a:spcPct val="95000"/>
              </a:lnSpc>
              <a:spcBef>
                <a:spcPts val="1200"/>
              </a:spcBef>
              <a:spcAft>
                <a:spcPts val="0"/>
              </a:spcAft>
              <a:buSzPts val="605"/>
              <a:buNone/>
            </a:pPr>
            <a:r>
              <a:rPr lang="es" sz="980"/>
              <a:t>10 - CS SD</a:t>
            </a:r>
            <a:endParaRPr sz="980"/>
          </a:p>
          <a:p>
            <a:pPr indent="0" lvl="0" marL="0" rtl="0" algn="l">
              <a:lnSpc>
                <a:spcPct val="95000"/>
              </a:lnSpc>
              <a:spcBef>
                <a:spcPts val="1200"/>
              </a:spcBef>
              <a:spcAft>
                <a:spcPts val="0"/>
              </a:spcAft>
              <a:buSzPts val="605"/>
              <a:buNone/>
            </a:pPr>
            <a:r>
              <a:rPr lang="es" sz="980"/>
              <a:t>11 - MOSI SD</a:t>
            </a:r>
            <a:endParaRPr sz="980"/>
          </a:p>
          <a:p>
            <a:pPr indent="0" lvl="0" marL="0" rtl="0" algn="l">
              <a:lnSpc>
                <a:spcPct val="95000"/>
              </a:lnSpc>
              <a:spcBef>
                <a:spcPts val="1200"/>
              </a:spcBef>
              <a:spcAft>
                <a:spcPts val="0"/>
              </a:spcAft>
              <a:buSzPts val="605"/>
              <a:buNone/>
            </a:pPr>
            <a:r>
              <a:rPr lang="es" sz="980"/>
              <a:t>12 - MISO SD</a:t>
            </a:r>
            <a:endParaRPr sz="980"/>
          </a:p>
          <a:p>
            <a:pPr indent="0" lvl="0" marL="0" rtl="0" algn="l">
              <a:lnSpc>
                <a:spcPct val="95000"/>
              </a:lnSpc>
              <a:spcBef>
                <a:spcPts val="1200"/>
              </a:spcBef>
              <a:spcAft>
                <a:spcPts val="1200"/>
              </a:spcAft>
              <a:buSzPts val="605"/>
              <a:buNone/>
            </a:pPr>
            <a:r>
              <a:rPr lang="es" sz="980"/>
              <a:t>13 - SCK SD</a:t>
            </a:r>
            <a:endParaRPr sz="98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7"/>
          <p:cNvSpPr txBox="1"/>
          <p:nvPr>
            <p:ph idx="1" type="body"/>
          </p:nvPr>
        </p:nvSpPr>
        <p:spPr>
          <a:xfrm>
            <a:off x="139725" y="1065000"/>
            <a:ext cx="3418800" cy="4078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s" sz="980"/>
              <a:t>Conexiones:</a:t>
            </a:r>
            <a:endParaRPr sz="980"/>
          </a:p>
          <a:p>
            <a:pPr indent="0" lvl="0" marL="0" rtl="0" algn="l">
              <a:lnSpc>
                <a:spcPct val="95000"/>
              </a:lnSpc>
              <a:spcBef>
                <a:spcPts val="1200"/>
              </a:spcBef>
              <a:spcAft>
                <a:spcPts val="0"/>
              </a:spcAft>
              <a:buSzPts val="605"/>
              <a:buNone/>
            </a:pPr>
            <a:r>
              <a:rPr lang="es" sz="980"/>
              <a:t>Pin Arduino - Pin Componente</a:t>
            </a:r>
            <a:endParaRPr sz="980"/>
          </a:p>
          <a:p>
            <a:pPr indent="0" lvl="0" marL="0" rtl="0" algn="l">
              <a:lnSpc>
                <a:spcPct val="95000"/>
              </a:lnSpc>
              <a:spcBef>
                <a:spcPts val="1200"/>
              </a:spcBef>
              <a:spcAft>
                <a:spcPts val="0"/>
              </a:spcAft>
              <a:buSzPts val="605"/>
              <a:buNone/>
            </a:pPr>
            <a:r>
              <a:rPr lang="es" sz="980"/>
              <a:t>GND - GND: LCD, RTC y SD </a:t>
            </a:r>
            <a:endParaRPr sz="980"/>
          </a:p>
          <a:p>
            <a:pPr indent="0" lvl="0" marL="0" rtl="0" algn="l">
              <a:lnSpc>
                <a:spcPct val="95000"/>
              </a:lnSpc>
              <a:spcBef>
                <a:spcPts val="1200"/>
              </a:spcBef>
              <a:spcAft>
                <a:spcPts val="0"/>
              </a:spcAft>
              <a:buSzPts val="605"/>
              <a:buNone/>
            </a:pPr>
            <a:r>
              <a:rPr lang="es" sz="980"/>
              <a:t>+5v -  VCC: LCD, RTC y SD</a:t>
            </a:r>
            <a:endParaRPr sz="980"/>
          </a:p>
          <a:p>
            <a:pPr indent="0" lvl="0" marL="0" rtl="0" algn="l">
              <a:lnSpc>
                <a:spcPct val="95000"/>
              </a:lnSpc>
              <a:spcBef>
                <a:spcPts val="1200"/>
              </a:spcBef>
              <a:spcAft>
                <a:spcPts val="0"/>
              </a:spcAft>
              <a:buSzPts val="605"/>
              <a:buNone/>
            </a:pPr>
            <a:r>
              <a:rPr lang="es" sz="980"/>
              <a:t>A0 - Out MQ7</a:t>
            </a:r>
            <a:endParaRPr sz="980"/>
          </a:p>
          <a:p>
            <a:pPr indent="0" lvl="0" marL="0" rtl="0" algn="l">
              <a:lnSpc>
                <a:spcPct val="95000"/>
              </a:lnSpc>
              <a:spcBef>
                <a:spcPts val="1200"/>
              </a:spcBef>
              <a:spcAft>
                <a:spcPts val="0"/>
              </a:spcAft>
              <a:buSzPts val="605"/>
              <a:buNone/>
            </a:pPr>
            <a:r>
              <a:rPr lang="es" sz="980"/>
              <a:t>A1 - Out MQ2</a:t>
            </a:r>
            <a:endParaRPr sz="980"/>
          </a:p>
          <a:p>
            <a:pPr indent="0" lvl="0" marL="0" rtl="0" algn="l">
              <a:lnSpc>
                <a:spcPct val="95000"/>
              </a:lnSpc>
              <a:spcBef>
                <a:spcPts val="1200"/>
              </a:spcBef>
              <a:spcAft>
                <a:spcPts val="0"/>
              </a:spcAft>
              <a:buSzPts val="605"/>
              <a:buNone/>
            </a:pPr>
            <a:r>
              <a:rPr lang="es" sz="980"/>
              <a:t>A2 - Out Microfono</a:t>
            </a:r>
            <a:endParaRPr sz="980"/>
          </a:p>
          <a:p>
            <a:pPr indent="0" lvl="0" marL="0" rtl="0" algn="l">
              <a:lnSpc>
                <a:spcPct val="95000"/>
              </a:lnSpc>
              <a:spcBef>
                <a:spcPts val="1200"/>
              </a:spcBef>
              <a:spcAft>
                <a:spcPts val="0"/>
              </a:spcAft>
              <a:buSzPts val="605"/>
              <a:buNone/>
            </a:pPr>
            <a:r>
              <a:rPr lang="es" sz="980"/>
              <a:t>A4 - SDA: LCD, RTC, SD</a:t>
            </a:r>
            <a:r>
              <a:rPr lang="es" sz="980"/>
              <a:t>, Temp/Hum y Luz</a:t>
            </a:r>
            <a:endParaRPr sz="980"/>
          </a:p>
          <a:p>
            <a:pPr indent="0" lvl="0" marL="0" rtl="0" algn="l">
              <a:lnSpc>
                <a:spcPct val="95000"/>
              </a:lnSpc>
              <a:spcBef>
                <a:spcPts val="1200"/>
              </a:spcBef>
              <a:spcAft>
                <a:spcPts val="0"/>
              </a:spcAft>
              <a:buSzPts val="605"/>
              <a:buNone/>
            </a:pPr>
            <a:r>
              <a:rPr lang="es" sz="980"/>
              <a:t>A5 - SCL: LCD, RTC, SD, Temp/Hum y Luz</a:t>
            </a:r>
            <a:endParaRPr sz="980"/>
          </a:p>
          <a:p>
            <a:pPr indent="0" lvl="0" marL="0" rtl="0" algn="l">
              <a:lnSpc>
                <a:spcPct val="95000"/>
              </a:lnSpc>
              <a:spcBef>
                <a:spcPts val="1200"/>
              </a:spcBef>
              <a:spcAft>
                <a:spcPts val="0"/>
              </a:spcAft>
              <a:buSzPts val="605"/>
              <a:buNone/>
            </a:pPr>
            <a:r>
              <a:rPr lang="es" sz="980"/>
              <a:t>2 - Out PIR</a:t>
            </a:r>
            <a:endParaRPr sz="980"/>
          </a:p>
          <a:p>
            <a:pPr indent="0" lvl="0" marL="0" rtl="0" algn="l">
              <a:lnSpc>
                <a:spcPct val="95000"/>
              </a:lnSpc>
              <a:spcBef>
                <a:spcPts val="1200"/>
              </a:spcBef>
              <a:spcAft>
                <a:spcPts val="0"/>
              </a:spcAft>
              <a:buSzPts val="605"/>
              <a:buNone/>
            </a:pPr>
            <a:r>
              <a:rPr lang="es" sz="980"/>
              <a:t>10 - CS SD</a:t>
            </a:r>
            <a:endParaRPr sz="980"/>
          </a:p>
          <a:p>
            <a:pPr indent="0" lvl="0" marL="0" rtl="0" algn="l">
              <a:lnSpc>
                <a:spcPct val="95000"/>
              </a:lnSpc>
              <a:spcBef>
                <a:spcPts val="1200"/>
              </a:spcBef>
              <a:spcAft>
                <a:spcPts val="0"/>
              </a:spcAft>
              <a:buSzPts val="605"/>
              <a:buNone/>
            </a:pPr>
            <a:r>
              <a:rPr lang="es" sz="980"/>
              <a:t>11 - MOSI SD</a:t>
            </a:r>
            <a:endParaRPr sz="980"/>
          </a:p>
          <a:p>
            <a:pPr indent="0" lvl="0" marL="0" rtl="0" algn="l">
              <a:lnSpc>
                <a:spcPct val="95000"/>
              </a:lnSpc>
              <a:spcBef>
                <a:spcPts val="1200"/>
              </a:spcBef>
              <a:spcAft>
                <a:spcPts val="0"/>
              </a:spcAft>
              <a:buSzPts val="605"/>
              <a:buNone/>
            </a:pPr>
            <a:r>
              <a:rPr lang="es" sz="980"/>
              <a:t>12 - MISO SD</a:t>
            </a:r>
            <a:endParaRPr sz="980"/>
          </a:p>
          <a:p>
            <a:pPr indent="0" lvl="0" marL="0" rtl="0" algn="l">
              <a:lnSpc>
                <a:spcPct val="95000"/>
              </a:lnSpc>
              <a:spcBef>
                <a:spcPts val="1200"/>
              </a:spcBef>
              <a:spcAft>
                <a:spcPts val="1200"/>
              </a:spcAft>
              <a:buSzPts val="605"/>
              <a:buNone/>
            </a:pPr>
            <a:r>
              <a:rPr lang="es" sz="980"/>
              <a:t>13 - SCK SD</a:t>
            </a:r>
            <a:endParaRPr sz="980"/>
          </a:p>
        </p:txBody>
      </p:sp>
      <p:sp>
        <p:nvSpPr>
          <p:cNvPr id="437" name="Google Shape;437;p67"/>
          <p:cNvSpPr txBox="1"/>
          <p:nvPr>
            <p:ph type="title"/>
          </p:nvPr>
        </p:nvSpPr>
        <p:spPr>
          <a:xfrm>
            <a:off x="311700" y="365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Kit ARQ completo: Base + Sensores</a:t>
            </a:r>
            <a:endParaRPr b="1"/>
          </a:p>
        </p:txBody>
      </p:sp>
      <p:pic>
        <p:nvPicPr>
          <p:cNvPr id="438" name="Google Shape;438;p67" title="Captura de pantalla 2026-02-24 a las 17.31.03.png"/>
          <p:cNvPicPr preferRelativeResize="0"/>
          <p:nvPr/>
        </p:nvPicPr>
        <p:blipFill>
          <a:blip r:embed="rId3">
            <a:alphaModFix/>
          </a:blip>
          <a:stretch>
            <a:fillRect/>
          </a:stretch>
        </p:blipFill>
        <p:spPr>
          <a:xfrm>
            <a:off x="3027258" y="950950"/>
            <a:ext cx="5964342" cy="407849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8"/>
          <p:cNvSpPr txBox="1"/>
          <p:nvPr>
            <p:ph type="ctrTitle"/>
          </p:nvPr>
        </p:nvSpPr>
        <p:spPr>
          <a:xfrm>
            <a:off x="311700" y="235475"/>
            <a:ext cx="8520600" cy="79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s"/>
              <a:t>Links	</a:t>
            </a:r>
            <a:endParaRPr/>
          </a:p>
        </p:txBody>
      </p:sp>
      <p:sp>
        <p:nvSpPr>
          <p:cNvPr id="444" name="Google Shape;444;p68"/>
          <p:cNvSpPr txBox="1"/>
          <p:nvPr>
            <p:ph idx="1" type="subTitle"/>
          </p:nvPr>
        </p:nvSpPr>
        <p:spPr>
          <a:xfrm>
            <a:off x="0" y="971550"/>
            <a:ext cx="9144000" cy="393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400"/>
              <a:t>Proyectos DIY</a:t>
            </a:r>
            <a:endParaRPr sz="1400"/>
          </a:p>
          <a:p>
            <a:pPr indent="0" lvl="0" marL="0" rtl="0" algn="ctr">
              <a:spcBef>
                <a:spcPts val="0"/>
              </a:spcBef>
              <a:spcAft>
                <a:spcPts val="0"/>
              </a:spcAft>
              <a:buNone/>
            </a:pPr>
            <a:r>
              <a:rPr lang="es" sz="1400" u="sng">
                <a:solidFill>
                  <a:schemeClr val="hlink"/>
                </a:solidFill>
                <a:hlinkClick r:id="rId3"/>
              </a:rPr>
              <a:t>https://www.instagram.com/p/C7zmX9cPL0g/?img_index=1</a:t>
            </a:r>
            <a:endParaRPr sz="1400"/>
          </a:p>
          <a:p>
            <a:pPr indent="0" lvl="0" marL="0" rtl="0" algn="ctr">
              <a:spcBef>
                <a:spcPts val="0"/>
              </a:spcBef>
              <a:spcAft>
                <a:spcPts val="0"/>
              </a:spcAft>
              <a:buNone/>
            </a:pPr>
            <a:r>
              <a:rPr lang="es" sz="1400" u="sng">
                <a:solidFill>
                  <a:schemeClr val="hlink"/>
                </a:solidFill>
                <a:hlinkClick r:id="rId4"/>
              </a:rPr>
              <a:t>https://www.envirodiy.org/</a:t>
            </a:r>
            <a:endParaRPr sz="1400"/>
          </a:p>
          <a:p>
            <a:pPr indent="0" lvl="0" marL="0" rtl="0" algn="ctr">
              <a:spcBef>
                <a:spcPts val="0"/>
              </a:spcBef>
              <a:spcAft>
                <a:spcPts val="0"/>
              </a:spcAft>
              <a:buNone/>
            </a:pPr>
            <a:r>
              <a:rPr lang="es" sz="1400" u="sng">
                <a:solidFill>
                  <a:schemeClr val="hlink"/>
                </a:solidFill>
                <a:hlinkClick r:id="rId5"/>
              </a:rPr>
              <a:t>https://www.instructables.com/</a:t>
            </a:r>
            <a:endParaRPr sz="1400"/>
          </a:p>
          <a:p>
            <a:pPr indent="0" lvl="0" marL="0" rtl="0" algn="ctr">
              <a:spcBef>
                <a:spcPts val="0"/>
              </a:spcBef>
              <a:spcAft>
                <a:spcPts val="0"/>
              </a:spcAft>
              <a:buNone/>
            </a:pPr>
            <a:r>
              <a:rPr lang="es" sz="1400" u="sng">
                <a:solidFill>
                  <a:schemeClr val="hlink"/>
                </a:solidFill>
                <a:hlinkClick r:id="rId6"/>
              </a:rPr>
              <a:t>https://randomnerdtutorials.com/</a:t>
            </a:r>
            <a:endParaRPr sz="1400"/>
          </a:p>
          <a:p>
            <a:pPr indent="0" lvl="0" marL="0" rtl="0" algn="ctr">
              <a:spcBef>
                <a:spcPts val="0"/>
              </a:spcBef>
              <a:spcAft>
                <a:spcPts val="0"/>
              </a:spcAft>
              <a:buNone/>
            </a:pPr>
            <a:r>
              <a:rPr lang="es" sz="1400" u="sng">
                <a:solidFill>
                  <a:schemeClr val="hlink"/>
                </a:solidFill>
                <a:hlinkClick r:id="rId7"/>
              </a:rPr>
              <a:t>https://naylampmechatronics.com/content/6-tutoriales-y-proyectos-con-arduino</a:t>
            </a:r>
            <a:r>
              <a:rPr lang="es" sz="1400"/>
              <a:t>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s" sz="1400"/>
              <a:t>Podcasts:</a:t>
            </a:r>
            <a:endParaRPr sz="1400"/>
          </a:p>
          <a:p>
            <a:pPr indent="0" lvl="0" marL="0" rtl="0" algn="ctr">
              <a:spcBef>
                <a:spcPts val="0"/>
              </a:spcBef>
              <a:spcAft>
                <a:spcPts val="0"/>
              </a:spcAft>
              <a:buNone/>
            </a:pPr>
            <a:r>
              <a:rPr lang="es" sz="1400"/>
              <a:t>Inspirados x la naturaleza: </a:t>
            </a:r>
            <a:r>
              <a:rPr lang="es" sz="1400" u="sng">
                <a:solidFill>
                  <a:schemeClr val="hlink"/>
                </a:solidFill>
                <a:hlinkClick r:id="rId8"/>
              </a:rPr>
              <a:t>https://open.spotify.com/show/0WxxsBKP7gyRXXlWtj8fj4?si=7b55719573194263</a:t>
            </a:r>
            <a:endParaRPr sz="1400"/>
          </a:p>
          <a:p>
            <a:pPr indent="0" lvl="0" marL="0" rtl="0" algn="ctr">
              <a:spcBef>
                <a:spcPts val="0"/>
              </a:spcBef>
              <a:spcAft>
                <a:spcPts val="0"/>
              </a:spcAft>
              <a:buNone/>
            </a:pPr>
            <a:r>
              <a:rPr lang="es" sz="1400"/>
              <a:t>ECOS: </a:t>
            </a:r>
            <a:r>
              <a:rPr lang="es" sz="1400" u="sng">
                <a:solidFill>
                  <a:schemeClr val="hlink"/>
                </a:solidFill>
                <a:hlinkClick r:id="rId9"/>
              </a:rPr>
              <a:t>https://open.spotify.com/episode/51oE2yOXGkAtdrfCy3PyVE?si=6d9f19bef6b94225</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s" sz="1400"/>
              <a:t>Proyectos Artísticos/Audiovisuales:</a:t>
            </a:r>
            <a:endParaRPr sz="1400"/>
          </a:p>
          <a:p>
            <a:pPr indent="0" lvl="0" marL="0" rtl="0" algn="ctr">
              <a:spcBef>
                <a:spcPts val="0"/>
              </a:spcBef>
              <a:spcAft>
                <a:spcPts val="0"/>
              </a:spcAft>
              <a:buNone/>
            </a:pPr>
            <a:r>
              <a:rPr lang="es" sz="1400" u="sng">
                <a:solidFill>
                  <a:schemeClr val="hlink"/>
                </a:solidFill>
                <a:hlinkClick r:id="rId10"/>
              </a:rPr>
              <a:t>https://vistprojects.com/</a:t>
            </a:r>
            <a:endParaRPr sz="1400"/>
          </a:p>
          <a:p>
            <a:pPr indent="0" lvl="0" marL="0" rtl="0" algn="ctr">
              <a:spcBef>
                <a:spcPts val="0"/>
              </a:spcBef>
              <a:spcAft>
                <a:spcPts val="0"/>
              </a:spcAft>
              <a:buNone/>
            </a:pPr>
            <a:r>
              <a:rPr lang="es" sz="1400" u="sng">
                <a:solidFill>
                  <a:schemeClr val="hlink"/>
                </a:solidFill>
                <a:hlinkClick r:id="rId11"/>
              </a:rPr>
              <a:t>https://www.labverde.com/</a:t>
            </a:r>
            <a:endParaRPr sz="1400"/>
          </a:p>
          <a:p>
            <a:pPr indent="0" lvl="0" marL="0" rtl="0" algn="ctr">
              <a:spcBef>
                <a:spcPts val="0"/>
              </a:spcBef>
              <a:spcAft>
                <a:spcPts val="0"/>
              </a:spcAft>
              <a:buNone/>
            </a:pPr>
            <a:r>
              <a:rPr lang="es" sz="1400" u="sng">
                <a:solidFill>
                  <a:schemeClr val="hlink"/>
                </a:solidFill>
                <a:hlinkClick r:id="rId12"/>
              </a:rPr>
              <a:t>https://www.dinalab.net/</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s" sz="1400"/>
              <a:t>Proyectos afines:</a:t>
            </a:r>
            <a:endParaRPr sz="1400"/>
          </a:p>
          <a:p>
            <a:pPr indent="0" lvl="0" marL="0" rtl="0" algn="ctr">
              <a:spcBef>
                <a:spcPts val="0"/>
              </a:spcBef>
              <a:spcAft>
                <a:spcPts val="0"/>
              </a:spcAft>
              <a:buNone/>
            </a:pPr>
            <a:r>
              <a:rPr lang="es" sz="1400" u="sng">
                <a:solidFill>
                  <a:schemeClr val="hlink"/>
                </a:solidFill>
                <a:hlinkClick r:id="rId13"/>
              </a:rPr>
              <a:t>https://forum.openhardware.science/</a:t>
            </a:r>
            <a:endParaRPr sz="1400"/>
          </a:p>
          <a:p>
            <a:pPr indent="0" lvl="0" marL="0" rtl="0" algn="ctr">
              <a:spcBef>
                <a:spcPts val="0"/>
              </a:spcBef>
              <a:spcAft>
                <a:spcPts val="0"/>
              </a:spcAft>
              <a:buNone/>
            </a:pPr>
            <a:r>
              <a:rPr lang="es" sz="1400" u="sng">
                <a:solidFill>
                  <a:schemeClr val="hlink"/>
                </a:solidFill>
                <a:hlinkClick r:id="rId14"/>
              </a:rPr>
              <a:t>https://www.instagram.com/ehys.unsam/</a:t>
            </a:r>
            <a:r>
              <a:rPr lang="es" sz="1400"/>
              <a:t> </a:t>
            </a:r>
            <a:endParaRPr sz="1400"/>
          </a:p>
          <a:p>
            <a:pPr indent="0" lvl="0" marL="0" rtl="0" algn="ctr">
              <a:spcBef>
                <a:spcPts val="0"/>
              </a:spcBef>
              <a:spcAft>
                <a:spcPts val="0"/>
              </a:spcAft>
              <a:buNone/>
            </a:pPr>
            <a:r>
              <a:t/>
            </a:r>
            <a:endParaRPr sz="1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9"/>
          <p:cNvSpPr txBox="1"/>
          <p:nvPr>
            <p:ph type="ctrTitle"/>
          </p:nvPr>
        </p:nvSpPr>
        <p:spPr>
          <a:xfrm>
            <a:off x="311700" y="-213825"/>
            <a:ext cx="8520600" cy="792600"/>
          </a:xfrm>
          <a:prstGeom prst="rect">
            <a:avLst/>
          </a:prstGeom>
        </p:spPr>
        <p:txBody>
          <a:bodyPr anchorCtr="0" anchor="b" bIns="91425" lIns="91425" spcFirstLastPara="1" rIns="91425" wrap="square" tIns="91425">
            <a:normAutofit/>
          </a:bodyPr>
          <a:lstStyle/>
          <a:p>
            <a:pPr indent="-419100" lvl="0" marL="457200" rtl="0" algn="ctr">
              <a:spcBef>
                <a:spcPts val="0"/>
              </a:spcBef>
              <a:spcAft>
                <a:spcPts val="0"/>
              </a:spcAft>
              <a:buSzPts val="3000"/>
              <a:buChar char="+"/>
            </a:pPr>
            <a:r>
              <a:rPr lang="es" sz="3000"/>
              <a:t>Links	</a:t>
            </a:r>
            <a:endParaRPr sz="3000"/>
          </a:p>
        </p:txBody>
      </p:sp>
      <p:sp>
        <p:nvSpPr>
          <p:cNvPr id="450" name="Google Shape;450;p69"/>
          <p:cNvSpPr txBox="1"/>
          <p:nvPr>
            <p:ph idx="1" type="subTitle"/>
          </p:nvPr>
        </p:nvSpPr>
        <p:spPr>
          <a:xfrm>
            <a:off x="0" y="175750"/>
            <a:ext cx="9144000" cy="393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400"/>
              <a:t>Insectodrom:</a:t>
            </a:r>
            <a:r>
              <a:rPr lang="es"/>
              <a:t> </a:t>
            </a:r>
            <a:r>
              <a:rPr lang="es" sz="1400" u="sng">
                <a:solidFill>
                  <a:schemeClr val="hlink"/>
                </a:solidFill>
                <a:hlinkClick r:id="rId3"/>
              </a:rPr>
              <a:t>https://www.youtube.com/watch?v=yud_tzVBGNc</a:t>
            </a:r>
            <a:r>
              <a:rPr lang="es" sz="1400"/>
              <a:t> / </a:t>
            </a:r>
            <a:r>
              <a:rPr lang="es" sz="1400" u="sng">
                <a:solidFill>
                  <a:schemeClr val="hlink"/>
                </a:solidFill>
                <a:hlinkClick r:id="rId4"/>
              </a:rPr>
              <a:t>https://github.com/nicolassaganias/insectodrom?tab=readme-ov-file</a:t>
            </a:r>
            <a:r>
              <a:rPr lang="es" sz="1400"/>
              <a:t> </a:t>
            </a:r>
            <a:endParaRPr sz="1400"/>
          </a:p>
          <a:p>
            <a:pPr indent="0" lvl="0" marL="0" rtl="0" algn="ctr">
              <a:spcBef>
                <a:spcPts val="0"/>
              </a:spcBef>
              <a:spcAft>
                <a:spcPts val="0"/>
              </a:spcAft>
              <a:buNone/>
            </a:pPr>
            <a:r>
              <a:rPr lang="es" sz="1400"/>
              <a:t>Mothbox: </a:t>
            </a:r>
            <a:r>
              <a:rPr lang="es" sz="1400" u="sng">
                <a:solidFill>
                  <a:schemeClr val="hlink"/>
                </a:solidFill>
                <a:hlinkClick r:id="rId5"/>
              </a:rPr>
              <a:t>https://www.instructables.com/Mothbox-DIY-Insect-Camera/</a:t>
            </a:r>
            <a:endParaRPr sz="1400"/>
          </a:p>
          <a:p>
            <a:pPr indent="0" lvl="0" marL="0" rtl="0" algn="ctr">
              <a:spcBef>
                <a:spcPts val="0"/>
              </a:spcBef>
              <a:spcAft>
                <a:spcPts val="0"/>
              </a:spcAft>
              <a:buNone/>
            </a:pPr>
            <a:r>
              <a:rPr lang="es" sz="1400"/>
              <a:t>Birdbox: </a:t>
            </a:r>
            <a:r>
              <a:rPr lang="es" sz="1400" u="sng">
                <a:solidFill>
                  <a:schemeClr val="hlink"/>
                </a:solidFill>
                <a:hlinkClick r:id="rId6"/>
              </a:rPr>
              <a:t>https://projects.raspberrypi.org/en/projects/infrared-bird-box/9</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s" sz="1400"/>
              <a:t>LoRa</a:t>
            </a:r>
            <a:endParaRPr sz="1400"/>
          </a:p>
          <a:p>
            <a:pPr indent="0" lvl="0" marL="0" rtl="0" algn="ctr">
              <a:spcBef>
                <a:spcPts val="0"/>
              </a:spcBef>
              <a:spcAft>
                <a:spcPts val="0"/>
              </a:spcAft>
              <a:buNone/>
            </a:pPr>
            <a:r>
              <a:rPr lang="es" sz="1400" u="sng">
                <a:solidFill>
                  <a:schemeClr val="hlink"/>
                </a:solidFill>
                <a:hlinkClick r:id="rId7"/>
              </a:rPr>
              <a:t>https://www.catsensors.com/es/lorawan/tecnologia-lora-y-lorawan</a:t>
            </a:r>
            <a:r>
              <a:rPr lang="es" sz="1400"/>
              <a:t> </a:t>
            </a:r>
            <a:endParaRPr sz="1400"/>
          </a:p>
          <a:p>
            <a:pPr indent="0" lvl="0" marL="0" rtl="0" algn="ctr">
              <a:spcBef>
                <a:spcPts val="0"/>
              </a:spcBef>
              <a:spcAft>
                <a:spcPts val="0"/>
              </a:spcAft>
              <a:buNone/>
            </a:pPr>
            <a:r>
              <a:rPr lang="es" sz="1400" u="sng">
                <a:solidFill>
                  <a:schemeClr val="hlink"/>
                </a:solidFill>
                <a:hlinkClick r:id="rId8"/>
              </a:rPr>
              <a:t>https://www.youtube.com/watch?v=YQ7aLHCTeeE&amp;t=21s</a:t>
            </a:r>
            <a:endParaRPr sz="1400"/>
          </a:p>
          <a:p>
            <a:pPr indent="0" lvl="0" marL="0" rtl="0" algn="ctr">
              <a:spcBef>
                <a:spcPts val="0"/>
              </a:spcBef>
              <a:spcAft>
                <a:spcPts val="0"/>
              </a:spcAft>
              <a:buNone/>
            </a:pPr>
            <a:r>
              <a:rPr lang="es" sz="1400" u="sng">
                <a:solidFill>
                  <a:schemeClr val="hlink"/>
                </a:solidFill>
                <a:hlinkClick r:id="rId9"/>
              </a:rPr>
              <a:t>https://www.thethingsnetwork.org/</a:t>
            </a:r>
            <a:r>
              <a:rPr lang="es" sz="1400"/>
              <a:t>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s" sz="1400"/>
              <a:t>Recolección de datos</a:t>
            </a:r>
            <a:endParaRPr sz="1400"/>
          </a:p>
          <a:p>
            <a:pPr indent="0" lvl="0" marL="0" rtl="0" algn="ctr">
              <a:spcBef>
                <a:spcPts val="0"/>
              </a:spcBef>
              <a:spcAft>
                <a:spcPts val="0"/>
              </a:spcAft>
              <a:buNone/>
            </a:pPr>
            <a:r>
              <a:rPr lang="es" sz="1400" u="sng">
                <a:solidFill>
                  <a:schemeClr val="hlink"/>
                </a:solidFill>
                <a:hlinkClick r:id="rId10"/>
              </a:rPr>
              <a:t>https://grafana.com/</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s" sz="1400"/>
              <a:t>Github:</a:t>
            </a:r>
            <a:endParaRPr sz="1400"/>
          </a:p>
          <a:p>
            <a:pPr indent="0" lvl="0" marL="0" rtl="0" algn="ctr">
              <a:spcBef>
                <a:spcPts val="0"/>
              </a:spcBef>
              <a:spcAft>
                <a:spcPts val="0"/>
              </a:spcAft>
              <a:buNone/>
            </a:pPr>
            <a:r>
              <a:rPr lang="es" sz="1400" u="sng">
                <a:solidFill>
                  <a:schemeClr val="hlink"/>
                </a:solidFill>
                <a:hlinkClick r:id="rId11"/>
              </a:rPr>
              <a:t>https://github.com/nicolassaganias/PUCE_formacion</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s" sz="1400"/>
              <a:t>Compras:</a:t>
            </a:r>
            <a:endParaRPr sz="1400"/>
          </a:p>
          <a:p>
            <a:pPr indent="0" lvl="0" marL="0" rtl="0" algn="ctr">
              <a:spcBef>
                <a:spcPts val="0"/>
              </a:spcBef>
              <a:spcAft>
                <a:spcPts val="0"/>
              </a:spcAft>
              <a:buNone/>
            </a:pPr>
            <a:r>
              <a:rPr lang="es" sz="1400" u="sng">
                <a:solidFill>
                  <a:schemeClr val="hlink"/>
                </a:solidFill>
                <a:hlinkClick r:id="rId12"/>
              </a:rPr>
              <a:t>Atlas Scientific</a:t>
            </a:r>
            <a:endParaRPr sz="1400"/>
          </a:p>
          <a:p>
            <a:pPr indent="0" lvl="0" marL="0" rtl="0" algn="ctr">
              <a:spcBef>
                <a:spcPts val="0"/>
              </a:spcBef>
              <a:spcAft>
                <a:spcPts val="0"/>
              </a:spcAft>
              <a:buNone/>
            </a:pPr>
            <a:r>
              <a:rPr lang="es" sz="1400" u="sng">
                <a:solidFill>
                  <a:schemeClr val="hlink"/>
                </a:solidFill>
                <a:hlinkClick r:id="rId13"/>
              </a:rPr>
              <a:t>DF Robot</a:t>
            </a:r>
            <a:endParaRPr sz="1400"/>
          </a:p>
          <a:p>
            <a:pPr indent="0" lvl="0" marL="0" rtl="0" algn="ctr">
              <a:spcBef>
                <a:spcPts val="0"/>
              </a:spcBef>
              <a:spcAft>
                <a:spcPts val="0"/>
              </a:spcAft>
              <a:buNone/>
            </a:pPr>
            <a:r>
              <a:rPr lang="es" sz="1400" u="sng">
                <a:solidFill>
                  <a:schemeClr val="hlink"/>
                </a:solidFill>
                <a:hlinkClick r:id="rId14"/>
              </a:rPr>
              <a:t>Seeed Studio</a:t>
            </a:r>
            <a:endParaRPr sz="1400"/>
          </a:p>
          <a:p>
            <a:pPr indent="0" lvl="0" marL="0" rtl="0" algn="ctr">
              <a:spcBef>
                <a:spcPts val="0"/>
              </a:spcBef>
              <a:spcAft>
                <a:spcPts val="0"/>
              </a:spcAft>
              <a:buNone/>
            </a:pPr>
            <a:r>
              <a:rPr lang="es" sz="1400" u="sng">
                <a:solidFill>
                  <a:schemeClr val="hlink"/>
                </a:solidFill>
                <a:hlinkClick r:id="rId15"/>
              </a:rPr>
              <a:t>Adafruit</a:t>
            </a:r>
            <a:endParaRPr sz="1400"/>
          </a:p>
          <a:p>
            <a:pPr indent="0" lvl="0" marL="0" rtl="0" algn="ctr">
              <a:spcBef>
                <a:spcPts val="0"/>
              </a:spcBef>
              <a:spcAft>
                <a:spcPts val="0"/>
              </a:spcAft>
              <a:buNone/>
            </a:pPr>
            <a:r>
              <a:rPr lang="es" sz="1400" u="sng">
                <a:solidFill>
                  <a:schemeClr val="hlink"/>
                </a:solidFill>
                <a:hlinkClick r:id="rId16"/>
              </a:rPr>
              <a:t>Sparkfun</a:t>
            </a:r>
            <a:endParaRPr sz="1400"/>
          </a:p>
          <a:p>
            <a:pPr indent="0" lvl="0" marL="0" rtl="0" algn="ctr">
              <a:spcBef>
                <a:spcPts val="0"/>
              </a:spcBef>
              <a:spcAft>
                <a:spcPts val="0"/>
              </a:spcAft>
              <a:buNone/>
            </a:pPr>
            <a:r>
              <a:t/>
            </a:r>
            <a:endParaRPr sz="14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0"/>
          <p:cNvSpPr txBox="1"/>
          <p:nvPr>
            <p:ph type="ctrTitle"/>
          </p:nvPr>
        </p:nvSpPr>
        <p:spPr>
          <a:xfrm>
            <a:off x="311700" y="-213825"/>
            <a:ext cx="8520600" cy="792600"/>
          </a:xfrm>
          <a:prstGeom prst="rect">
            <a:avLst/>
          </a:prstGeom>
        </p:spPr>
        <p:txBody>
          <a:bodyPr anchorCtr="0" anchor="b" bIns="91425" lIns="91425" spcFirstLastPara="1" rIns="91425" wrap="square" tIns="91425">
            <a:normAutofit/>
          </a:bodyPr>
          <a:lstStyle/>
          <a:p>
            <a:pPr indent="-419100" lvl="0" marL="457200" rtl="0" algn="ctr">
              <a:spcBef>
                <a:spcPts val="0"/>
              </a:spcBef>
              <a:spcAft>
                <a:spcPts val="0"/>
              </a:spcAft>
              <a:buSzPts val="3000"/>
              <a:buChar char="+"/>
            </a:pPr>
            <a:r>
              <a:rPr lang="es" sz="3000"/>
              <a:t>Links	</a:t>
            </a:r>
            <a:endParaRPr sz="3000"/>
          </a:p>
        </p:txBody>
      </p:sp>
      <p:sp>
        <p:nvSpPr>
          <p:cNvPr id="456" name="Google Shape;456;p70"/>
          <p:cNvSpPr txBox="1"/>
          <p:nvPr>
            <p:ph idx="1" type="subTitle"/>
          </p:nvPr>
        </p:nvSpPr>
        <p:spPr>
          <a:xfrm>
            <a:off x="0" y="310825"/>
            <a:ext cx="9144000" cy="393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400"/>
              <a:t>Cámaras</a:t>
            </a:r>
            <a:endParaRPr sz="1400"/>
          </a:p>
          <a:p>
            <a:pPr indent="0" lvl="0" marL="0" rtl="0" algn="ctr">
              <a:spcBef>
                <a:spcPts val="0"/>
              </a:spcBef>
              <a:spcAft>
                <a:spcPts val="0"/>
              </a:spcAft>
              <a:buNone/>
            </a:pPr>
            <a:r>
              <a:rPr lang="es" sz="1400"/>
              <a:t>ESP-CAM: </a:t>
            </a:r>
            <a:r>
              <a:rPr lang="es" sz="1400" u="sng">
                <a:solidFill>
                  <a:schemeClr val="hlink"/>
                </a:solidFill>
                <a:hlinkClick r:id="rId3"/>
              </a:rPr>
              <a:t>https://www.youtube.com/watch?v=wlX2SDjCJL4</a:t>
            </a:r>
            <a:r>
              <a:rPr lang="es" sz="1400"/>
              <a:t> </a:t>
            </a:r>
            <a:endParaRPr sz="1400"/>
          </a:p>
          <a:p>
            <a:pPr indent="0" lvl="0" marL="0" rtl="0" algn="ctr">
              <a:spcBef>
                <a:spcPts val="0"/>
              </a:spcBef>
              <a:spcAft>
                <a:spcPts val="0"/>
              </a:spcAft>
              <a:buNone/>
            </a:pPr>
            <a:r>
              <a:rPr lang="es" sz="1400"/>
              <a:t>PiCam: </a:t>
            </a:r>
            <a:r>
              <a:rPr lang="es" sz="1400" u="sng">
                <a:solidFill>
                  <a:schemeClr val="hlink"/>
                </a:solidFill>
                <a:hlinkClick r:id="rId4"/>
              </a:rPr>
              <a:t>https://www.raspberrypi.com/documentation/accessories/camera.html</a:t>
            </a:r>
            <a:r>
              <a:rPr lang="es" sz="1400"/>
              <a:t> </a:t>
            </a:r>
            <a:endParaRPr sz="14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0" name="Shape 460"/>
        <p:cNvGrpSpPr/>
        <p:nvPr/>
      </p:nvGrpSpPr>
      <p:grpSpPr>
        <a:xfrm>
          <a:off x="0" y="0"/>
          <a:ext cx="0" cy="0"/>
          <a:chOff x="0" y="0"/>
          <a:chExt cx="0" cy="0"/>
        </a:xfrm>
      </p:grpSpPr>
      <p:pic>
        <p:nvPicPr>
          <p:cNvPr id="461" name="Google Shape;461;p71" title="Como hacer buenos Prompts.jpeg"/>
          <p:cNvPicPr preferRelativeResize="0"/>
          <p:nvPr/>
        </p:nvPicPr>
        <p:blipFill rotWithShape="1">
          <a:blip r:embed="rId3">
            <a:alphaModFix/>
          </a:blip>
          <a:srcRect b="9330" l="0" r="0" t="0"/>
          <a:stretch/>
        </p:blipFill>
        <p:spPr>
          <a:xfrm>
            <a:off x="1735700" y="0"/>
            <a:ext cx="5672600" cy="51435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5" name="Shape 465"/>
        <p:cNvGrpSpPr/>
        <p:nvPr/>
      </p:nvGrpSpPr>
      <p:grpSpPr>
        <a:xfrm>
          <a:off x="0" y="0"/>
          <a:ext cx="0" cy="0"/>
          <a:chOff x="0" y="0"/>
          <a:chExt cx="0" cy="0"/>
        </a:xfrm>
      </p:grpSpPr>
      <p:sp>
        <p:nvSpPr>
          <p:cNvPr id="466" name="Google Shape;46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t>Prompts - IA</a:t>
            </a:r>
            <a:endParaRPr b="1"/>
          </a:p>
          <a:p>
            <a:pPr indent="0" lvl="0" marL="0" rtl="0" algn="ctr">
              <a:spcBef>
                <a:spcPts val="0"/>
              </a:spcBef>
              <a:spcAft>
                <a:spcPts val="0"/>
              </a:spcAft>
              <a:buNone/>
            </a:pPr>
            <a:r>
              <a:rPr i="1" lang="es"/>
              <a:t>La nueva forma de programar</a:t>
            </a:r>
            <a:endParaRPr i="1"/>
          </a:p>
        </p:txBody>
      </p:sp>
      <p:pic>
        <p:nvPicPr>
          <p:cNvPr id="467" name="Google Shape;467;p72" title="104.jpg"/>
          <p:cNvPicPr preferRelativeResize="0"/>
          <p:nvPr/>
        </p:nvPicPr>
        <p:blipFill rotWithShape="1">
          <a:blip r:embed="rId3">
            <a:alphaModFix/>
          </a:blip>
          <a:srcRect b="0" l="298" r="288" t="0"/>
          <a:stretch/>
        </p:blipFill>
        <p:spPr>
          <a:xfrm>
            <a:off x="2748700" y="1433975"/>
            <a:ext cx="3646599" cy="3646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1" name="Shape 471"/>
        <p:cNvGrpSpPr/>
        <p:nvPr/>
      </p:nvGrpSpPr>
      <p:grpSpPr>
        <a:xfrm>
          <a:off x="0" y="0"/>
          <a:ext cx="0" cy="0"/>
          <a:chOff x="0" y="0"/>
          <a:chExt cx="0" cy="0"/>
        </a:xfrm>
      </p:grpSpPr>
      <p:sp>
        <p:nvSpPr>
          <p:cNvPr id="472" name="Google Shape;472;p73"/>
          <p:cNvSpPr txBox="1"/>
          <p:nvPr/>
        </p:nvSpPr>
        <p:spPr>
          <a:xfrm>
            <a:off x="0" y="152400"/>
            <a:ext cx="9144000" cy="388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s" sz="2550">
                <a:solidFill>
                  <a:srgbClr val="333333"/>
                </a:solidFill>
                <a:highlight>
                  <a:srgbClr val="FFFFFF"/>
                </a:highlight>
              </a:rPr>
              <a:t>La variable como una caja</a:t>
            </a:r>
            <a:endParaRPr b="1" sz="2550">
              <a:solidFill>
                <a:srgbClr val="333333"/>
              </a:solidFill>
              <a:highlight>
                <a:srgbClr val="FFFFFF"/>
              </a:highlight>
            </a:endParaRPr>
          </a:p>
          <a:p>
            <a:pPr indent="0" lvl="0" marL="0" rtl="0" algn="l">
              <a:lnSpc>
                <a:spcPct val="100000"/>
              </a:lnSpc>
              <a:spcBef>
                <a:spcPts val="1100"/>
              </a:spcBef>
              <a:spcAft>
                <a:spcPts val="0"/>
              </a:spcAft>
              <a:buNone/>
            </a:pPr>
            <a:r>
              <a:rPr b="1" lang="es" sz="1500">
                <a:solidFill>
                  <a:srgbClr val="333333"/>
                </a:solidFill>
                <a:highlight>
                  <a:srgbClr val="FFFFFF"/>
                </a:highlight>
              </a:rPr>
              <a:t>¿Qué es una Variable?</a:t>
            </a:r>
            <a:endParaRPr b="1" sz="1500">
              <a:solidFill>
                <a:srgbClr val="333333"/>
              </a:solidFill>
              <a:highlight>
                <a:srgbClr val="FFFFFF"/>
              </a:highlight>
            </a:endParaRPr>
          </a:p>
          <a:p>
            <a:pPr indent="0" lvl="0" marL="0" rtl="0" algn="l">
              <a:lnSpc>
                <a:spcPct val="100000"/>
              </a:lnSpc>
              <a:spcBef>
                <a:spcPts val="1100"/>
              </a:spcBef>
              <a:spcAft>
                <a:spcPts val="0"/>
              </a:spcAft>
              <a:buNone/>
            </a:pPr>
            <a:r>
              <a:rPr lang="es" sz="1050">
                <a:solidFill>
                  <a:srgbClr val="929292"/>
                </a:solidFill>
                <a:highlight>
                  <a:srgbClr val="FFFFFF"/>
                </a:highlight>
              </a:rPr>
              <a:t>Una variable es un elemento de nuestro sketch que guarda un determinado contenido. Ese contenido (el valor de la variable) se podrá modificar en cualquier momento de la ejecución del sketch. Lo podemos imaginar como un recipiente: al recipiente le podemos dar un nombre y podemos elegir su tamaño.</a:t>
            </a:r>
            <a:endParaRPr sz="1050">
              <a:solidFill>
                <a:srgbClr val="929292"/>
              </a:solidFill>
              <a:highlight>
                <a:srgbClr val="FFFFFF"/>
              </a:highlight>
            </a:endParaRPr>
          </a:p>
          <a:p>
            <a:pPr indent="0" lvl="0" marL="0" rtl="0" algn="l">
              <a:lnSpc>
                <a:spcPct val="100000"/>
              </a:lnSpc>
              <a:spcBef>
                <a:spcPts val="1100"/>
              </a:spcBef>
              <a:spcAft>
                <a:spcPts val="0"/>
              </a:spcAft>
              <a:buNone/>
            </a:pPr>
            <a:r>
              <a:rPr b="1" lang="es" sz="1350">
                <a:solidFill>
                  <a:srgbClr val="333333"/>
                </a:solidFill>
                <a:highlight>
                  <a:srgbClr val="FFFFFF"/>
                </a:highlight>
              </a:rPr>
              <a:t>Declaración e inicialización: </a:t>
            </a:r>
            <a:r>
              <a:rPr lang="es" sz="1050">
                <a:solidFill>
                  <a:srgbClr val="929292"/>
                </a:solidFill>
                <a:highlight>
                  <a:srgbClr val="FFFFFF"/>
                </a:highlight>
              </a:rPr>
              <a:t>Declaras una vez - Usas muchas.</a:t>
            </a:r>
            <a:endParaRPr sz="1050">
              <a:solidFill>
                <a:srgbClr val="929292"/>
              </a:solidFill>
              <a:highlight>
                <a:srgbClr val="FFFFFF"/>
              </a:highlight>
            </a:endParaRPr>
          </a:p>
          <a:p>
            <a:pPr indent="0" lvl="0" marL="0" rtl="0" algn="l">
              <a:lnSpc>
                <a:spcPct val="100000"/>
              </a:lnSpc>
              <a:spcBef>
                <a:spcPts val="1100"/>
              </a:spcBef>
              <a:spcAft>
                <a:spcPts val="0"/>
              </a:spcAft>
              <a:buNone/>
            </a:pPr>
            <a:r>
              <a:t/>
            </a:r>
            <a:endParaRPr b="1" sz="1300">
              <a:solidFill>
                <a:srgbClr val="333333"/>
              </a:solidFill>
              <a:highlight>
                <a:srgbClr val="FFFFFF"/>
              </a:highlight>
            </a:endParaRPr>
          </a:p>
          <a:p>
            <a:pPr indent="0" lvl="0" marL="0" rtl="0" algn="l">
              <a:lnSpc>
                <a:spcPct val="100000"/>
              </a:lnSpc>
              <a:spcBef>
                <a:spcPts val="1100"/>
              </a:spcBef>
              <a:spcAft>
                <a:spcPts val="0"/>
              </a:spcAft>
              <a:buNone/>
            </a:pPr>
            <a:r>
              <a:rPr b="1" lang="es" sz="1300">
                <a:solidFill>
                  <a:srgbClr val="333333"/>
                </a:solidFill>
                <a:highlight>
                  <a:srgbClr val="FFFFFF"/>
                </a:highlight>
              </a:rPr>
              <a:t>Ejemplo 1</a:t>
            </a:r>
            <a:endParaRPr b="1" sz="1300">
              <a:solidFill>
                <a:srgbClr val="333333"/>
              </a:solidFill>
              <a:highlight>
                <a:srgbClr val="FFFFFF"/>
              </a:highlight>
            </a:endParaRPr>
          </a:p>
          <a:p>
            <a:pPr indent="0" lvl="0" marL="0" rtl="0" algn="l">
              <a:lnSpc>
                <a:spcPct val="100000"/>
              </a:lnSpc>
              <a:spcBef>
                <a:spcPts val="1100"/>
              </a:spcBef>
              <a:spcAft>
                <a:spcPts val="0"/>
              </a:spcAft>
              <a:buNone/>
            </a:pPr>
            <a:r>
              <a:rPr lang="es" sz="1200">
                <a:solidFill>
                  <a:srgbClr val="00979C"/>
                </a:solidFill>
                <a:highlight>
                  <a:srgbClr val="FAFAFA"/>
                </a:highlight>
                <a:latin typeface="Courier New"/>
                <a:ea typeface="Courier New"/>
                <a:cs typeface="Courier New"/>
                <a:sym typeface="Courier New"/>
              </a:rPr>
              <a:t>int</a:t>
            </a:r>
            <a:r>
              <a:rPr lang="es" sz="1200">
                <a:solidFill>
                  <a:srgbClr val="2080AD"/>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nombreVariable1</a:t>
            </a:r>
            <a:r>
              <a:rPr lang="es" sz="1200">
                <a:solidFill>
                  <a:srgbClr val="434F54"/>
                </a:solidFill>
                <a:highlight>
                  <a:srgbClr val="FAFAFA"/>
                </a:highlight>
                <a:latin typeface="Courier New"/>
                <a:ea typeface="Courier New"/>
                <a:cs typeface="Courier New"/>
                <a:sym typeface="Courier New"/>
              </a:rPr>
              <a:t>,</a:t>
            </a:r>
            <a:r>
              <a:rPr lang="es" sz="1200">
                <a:solidFill>
                  <a:srgbClr val="2080AD"/>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nombreVariable2</a:t>
            </a:r>
            <a:r>
              <a:rPr lang="es" sz="1200">
                <a:solidFill>
                  <a:srgbClr val="434F54"/>
                </a:solidFill>
                <a:highlight>
                  <a:srgbClr val="FAFAFA"/>
                </a:highlight>
                <a:latin typeface="Courier New"/>
                <a:ea typeface="Courier New"/>
                <a:cs typeface="Courier New"/>
                <a:sym typeface="Courier New"/>
              </a:rPr>
              <a:t>;</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//Crea 2 variables de tipo int</a:t>
            </a:r>
            <a:endParaRPr sz="1200">
              <a:solidFill>
                <a:srgbClr val="2080AD"/>
              </a:solidFill>
              <a:highlight>
                <a:srgbClr val="FAFAFA"/>
              </a:highlight>
              <a:latin typeface="Courier New"/>
              <a:ea typeface="Courier New"/>
              <a:cs typeface="Courier New"/>
              <a:sym typeface="Courier New"/>
            </a:endParaRPr>
          </a:p>
          <a:p>
            <a:pPr indent="0" lvl="0" marL="0" rtl="0" algn="l">
              <a:lnSpc>
                <a:spcPct val="100000"/>
              </a:lnSpc>
              <a:spcBef>
                <a:spcPts val="1100"/>
              </a:spcBef>
              <a:spcAft>
                <a:spcPts val="0"/>
              </a:spcAft>
              <a:buNone/>
            </a:pPr>
            <a:r>
              <a:rPr lang="es" sz="1200">
                <a:solidFill>
                  <a:srgbClr val="00979C"/>
                </a:solidFill>
                <a:highlight>
                  <a:srgbClr val="FAFAFA"/>
                </a:highlight>
                <a:latin typeface="Courier New"/>
                <a:ea typeface="Courier New"/>
                <a:cs typeface="Courier New"/>
                <a:sym typeface="Courier New"/>
              </a:rPr>
              <a:t>long</a:t>
            </a:r>
            <a:r>
              <a:rPr lang="es" sz="1200">
                <a:solidFill>
                  <a:srgbClr val="2080AD"/>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nombreVariable;</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//Crea una variable de tipo long</a:t>
            </a:r>
            <a:endParaRPr sz="1200">
              <a:solidFill>
                <a:srgbClr val="2080AD"/>
              </a:solidFill>
              <a:highlight>
                <a:srgbClr val="FAFAFA"/>
              </a:highlight>
              <a:latin typeface="Courier New"/>
              <a:ea typeface="Courier New"/>
              <a:cs typeface="Courier New"/>
              <a:sym typeface="Courier New"/>
            </a:endParaRPr>
          </a:p>
          <a:p>
            <a:pPr indent="0" lvl="0" marL="0" rtl="0" algn="l">
              <a:lnSpc>
                <a:spcPct val="100000"/>
              </a:lnSpc>
              <a:spcBef>
                <a:spcPts val="1100"/>
              </a:spcBef>
              <a:spcAft>
                <a:spcPts val="0"/>
              </a:spcAft>
              <a:buNone/>
            </a:pPr>
            <a:r>
              <a:rPr lang="es" sz="1200">
                <a:solidFill>
                  <a:srgbClr val="00979C"/>
                </a:solidFill>
                <a:highlight>
                  <a:srgbClr val="FAFAFA"/>
                </a:highlight>
                <a:latin typeface="Courier New"/>
                <a:ea typeface="Courier New"/>
                <a:cs typeface="Courier New"/>
                <a:sym typeface="Courier New"/>
              </a:rPr>
              <a:t>float</a:t>
            </a:r>
            <a:r>
              <a:rPr lang="es" sz="1200">
                <a:solidFill>
                  <a:srgbClr val="2080AD"/>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nombreVariable</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a:t>
            </a:r>
            <a:r>
              <a:rPr lang="es" sz="1200">
                <a:solidFill>
                  <a:srgbClr val="2080AD"/>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2.1;</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//Crea una variable tipo float</a:t>
            </a:r>
            <a:endParaRPr sz="1200">
              <a:solidFill>
                <a:srgbClr val="2080AD"/>
              </a:solidFill>
              <a:highlight>
                <a:srgbClr val="FAFAFA"/>
              </a:highlight>
              <a:latin typeface="Courier New"/>
              <a:ea typeface="Courier New"/>
              <a:cs typeface="Courier New"/>
              <a:sym typeface="Courier New"/>
            </a:endParaRPr>
          </a:p>
          <a:p>
            <a:pPr indent="0" lvl="0" marL="0" rtl="0" algn="l">
              <a:lnSpc>
                <a:spcPct val="100000"/>
              </a:lnSpc>
              <a:spcBef>
                <a:spcPts val="1100"/>
              </a:spcBef>
              <a:spcAft>
                <a:spcPts val="1100"/>
              </a:spcAft>
              <a:buNone/>
            </a:pPr>
            <a:r>
              <a:t/>
            </a:r>
            <a:endParaRPr sz="1050">
              <a:solidFill>
                <a:srgbClr val="434F54"/>
              </a:solidFill>
              <a:highlight>
                <a:srgbClr val="FFFFFF"/>
              </a:highlight>
            </a:endParaRPr>
          </a:p>
        </p:txBody>
      </p:sp>
      <p:pic>
        <p:nvPicPr>
          <p:cNvPr id="473" name="Google Shape;473;p73"/>
          <p:cNvPicPr preferRelativeResize="0"/>
          <p:nvPr/>
        </p:nvPicPr>
        <p:blipFill>
          <a:blip r:embed="rId3">
            <a:alphaModFix/>
          </a:blip>
          <a:stretch>
            <a:fillRect/>
          </a:stretch>
        </p:blipFill>
        <p:spPr>
          <a:xfrm>
            <a:off x="5779575" y="3208375"/>
            <a:ext cx="3140350" cy="18035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7" name="Shape 477"/>
        <p:cNvGrpSpPr/>
        <p:nvPr/>
      </p:nvGrpSpPr>
      <p:grpSpPr>
        <a:xfrm>
          <a:off x="0" y="0"/>
          <a:ext cx="0" cy="0"/>
          <a:chOff x="0" y="0"/>
          <a:chExt cx="0" cy="0"/>
        </a:xfrm>
      </p:grpSpPr>
      <p:sp>
        <p:nvSpPr>
          <p:cNvPr id="478" name="Google Shape;478;p74"/>
          <p:cNvSpPr txBox="1"/>
          <p:nvPr/>
        </p:nvSpPr>
        <p:spPr>
          <a:xfrm>
            <a:off x="0" y="0"/>
            <a:ext cx="9144000" cy="36504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s" sz="1350">
                <a:solidFill>
                  <a:srgbClr val="333333"/>
                </a:solidFill>
                <a:highlight>
                  <a:srgbClr val="FFFFFF"/>
                </a:highlight>
              </a:rPr>
              <a:t>Asignación</a:t>
            </a:r>
            <a:endParaRPr b="1" sz="1350">
              <a:solidFill>
                <a:srgbClr val="333333"/>
              </a:solidFill>
              <a:highlight>
                <a:srgbClr val="FFFFFF"/>
              </a:highlight>
            </a:endParaRPr>
          </a:p>
          <a:p>
            <a:pPr indent="0" lvl="0" marL="0" rtl="0" algn="l">
              <a:lnSpc>
                <a:spcPct val="115000"/>
              </a:lnSpc>
              <a:spcBef>
                <a:spcPts val="1500"/>
              </a:spcBef>
              <a:spcAft>
                <a:spcPts val="0"/>
              </a:spcAft>
              <a:buNone/>
            </a:pPr>
            <a:r>
              <a:rPr lang="es" sz="1250">
                <a:solidFill>
                  <a:srgbClr val="929292"/>
                </a:solidFill>
                <a:highlight>
                  <a:srgbClr val="FFFFFF"/>
                </a:highlight>
              </a:rPr>
              <a:t>Para cambiar el valor de una variable, que esté o no inicializada, usaremos el operador de igualdad “=” de acuerdo al siguiente ejemplo.</a:t>
            </a:r>
            <a:endParaRPr sz="1250">
              <a:solidFill>
                <a:srgbClr val="929292"/>
              </a:solidFill>
              <a:highlight>
                <a:srgbClr val="FFFFFF"/>
              </a:highlight>
            </a:endParaRPr>
          </a:p>
          <a:p>
            <a:pPr indent="0" lvl="0" marL="0" rtl="0" algn="l">
              <a:lnSpc>
                <a:spcPct val="140000"/>
              </a:lnSpc>
              <a:spcBef>
                <a:spcPts val="1500"/>
              </a:spcBef>
              <a:spcAft>
                <a:spcPts val="0"/>
              </a:spcAft>
              <a:buNone/>
            </a:pPr>
            <a:r>
              <a:rPr b="1" lang="es" sz="1300">
                <a:solidFill>
                  <a:srgbClr val="333333"/>
                </a:solidFill>
                <a:highlight>
                  <a:srgbClr val="FFFFFF"/>
                </a:highlight>
              </a:rPr>
              <a:t>Ejemplo 2</a:t>
            </a:r>
            <a:endParaRPr b="1" sz="1300">
              <a:solidFill>
                <a:srgbClr val="333333"/>
              </a:solidFill>
              <a:highlight>
                <a:srgbClr val="FFFFFF"/>
              </a:highlight>
            </a:endParaRPr>
          </a:p>
          <a:p>
            <a:pPr indent="0" lvl="0" marL="0" rtl="0" algn="l">
              <a:spcBef>
                <a:spcPts val="1500"/>
              </a:spcBef>
              <a:spcAft>
                <a:spcPts val="0"/>
              </a:spcAft>
              <a:buNone/>
            </a:pPr>
            <a:r>
              <a:rPr lang="es" sz="1200">
                <a:solidFill>
                  <a:schemeClr val="dk1"/>
                </a:solidFill>
                <a:highlight>
                  <a:srgbClr val="FAFAFA"/>
                </a:highlight>
                <a:latin typeface="Courier New"/>
                <a:ea typeface="Courier New"/>
                <a:cs typeface="Courier New"/>
                <a:sym typeface="Courier New"/>
              </a:rPr>
              <a:t>nombreVariable</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a:t>
            </a:r>
            <a:r>
              <a:rPr lang="es" sz="1200">
                <a:solidFill>
                  <a:srgbClr val="2080AD"/>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22;</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//Se asigna 22 a la variable nombreVariable</a:t>
            </a:r>
            <a:endParaRPr sz="1200">
              <a:solidFill>
                <a:srgbClr val="2080AD"/>
              </a:solidFill>
              <a:highlight>
                <a:srgbClr val="FAFAFA"/>
              </a:highlight>
              <a:latin typeface="Courier New"/>
              <a:ea typeface="Courier New"/>
              <a:cs typeface="Courier New"/>
              <a:sym typeface="Courier New"/>
            </a:endParaRPr>
          </a:p>
          <a:p>
            <a:pPr indent="0" lvl="0" marL="0" rtl="0" algn="l">
              <a:spcBef>
                <a:spcPts val="0"/>
              </a:spcBef>
              <a:spcAft>
                <a:spcPts val="0"/>
              </a:spcAft>
              <a:buNone/>
            </a:pPr>
            <a:r>
              <a:t/>
            </a:r>
            <a:endParaRPr sz="1200">
              <a:solidFill>
                <a:srgbClr val="2080AD"/>
              </a:solidFill>
              <a:highlight>
                <a:srgbClr val="FAFAFA"/>
              </a:highlight>
              <a:latin typeface="Courier New"/>
              <a:ea typeface="Courier New"/>
              <a:cs typeface="Courier New"/>
              <a:sym typeface="Courier New"/>
            </a:endParaRPr>
          </a:p>
          <a:p>
            <a:pPr indent="0" lvl="0" marL="0" rtl="0" algn="l">
              <a:spcBef>
                <a:spcPts val="0"/>
              </a:spcBef>
              <a:spcAft>
                <a:spcPts val="0"/>
              </a:spcAft>
              <a:buNone/>
            </a:pPr>
            <a:r>
              <a:rPr lang="es" sz="1200">
                <a:solidFill>
                  <a:schemeClr val="dk1"/>
                </a:solidFill>
                <a:highlight>
                  <a:srgbClr val="FAFAFA"/>
                </a:highlight>
                <a:latin typeface="Courier New"/>
                <a:ea typeface="Courier New"/>
                <a:cs typeface="Courier New"/>
                <a:sym typeface="Courier New"/>
              </a:rPr>
              <a:t>x </a:t>
            </a:r>
            <a:r>
              <a:rPr lang="es" sz="1200">
                <a:solidFill>
                  <a:srgbClr val="434F54"/>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y </a:t>
            </a:r>
            <a:r>
              <a:rPr lang="es" sz="1200">
                <a:solidFill>
                  <a:srgbClr val="434F54"/>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25;</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//Se asigna el valor de la variable y + 25 a la variable x</a:t>
            </a:r>
            <a:endParaRPr sz="1200">
              <a:solidFill>
                <a:srgbClr val="2080AD"/>
              </a:solidFill>
              <a:highlight>
                <a:srgbClr val="FAFAFA"/>
              </a:highlight>
              <a:latin typeface="Courier New"/>
              <a:ea typeface="Courier New"/>
              <a:cs typeface="Courier New"/>
              <a:sym typeface="Courier New"/>
            </a:endParaRPr>
          </a:p>
          <a:p>
            <a:pPr indent="0" lvl="0" marL="0" rtl="0" algn="l">
              <a:spcBef>
                <a:spcPts val="0"/>
              </a:spcBef>
              <a:spcAft>
                <a:spcPts val="0"/>
              </a:spcAft>
              <a:buNone/>
            </a:pPr>
            <a:r>
              <a:t/>
            </a:r>
            <a:endParaRPr sz="1200">
              <a:solidFill>
                <a:srgbClr val="2080AD"/>
              </a:solidFill>
              <a:highlight>
                <a:srgbClr val="FAFAFA"/>
              </a:highlight>
              <a:latin typeface="Courier New"/>
              <a:ea typeface="Courier New"/>
              <a:cs typeface="Courier New"/>
              <a:sym typeface="Courier New"/>
            </a:endParaRPr>
          </a:p>
          <a:p>
            <a:pPr indent="0" lvl="0" marL="0" rtl="0" algn="l">
              <a:spcBef>
                <a:spcPts val="0"/>
              </a:spcBef>
              <a:spcAft>
                <a:spcPts val="0"/>
              </a:spcAft>
              <a:buNone/>
            </a:pPr>
            <a:r>
              <a:rPr lang="es" sz="1200">
                <a:solidFill>
                  <a:schemeClr val="dk1"/>
                </a:solidFill>
                <a:highlight>
                  <a:srgbClr val="FAFAFA"/>
                </a:highlight>
                <a:latin typeface="Courier New"/>
                <a:ea typeface="Courier New"/>
                <a:cs typeface="Courier New"/>
                <a:sym typeface="Courier New"/>
              </a:rPr>
              <a:t>valorPrevio </a:t>
            </a:r>
            <a:r>
              <a:rPr lang="es" sz="1200">
                <a:solidFill>
                  <a:srgbClr val="434F54"/>
                </a:solidFill>
                <a:highlight>
                  <a:srgbClr val="FAFAFA"/>
                </a:highlight>
                <a:latin typeface="Courier New"/>
                <a:ea typeface="Courier New"/>
                <a:cs typeface="Courier New"/>
                <a:sym typeface="Courier New"/>
              </a:rPr>
              <a:t>= </a:t>
            </a:r>
            <a:r>
              <a:rPr lang="es" sz="1200">
                <a:solidFill>
                  <a:schemeClr val="dk1"/>
                </a:solidFill>
                <a:highlight>
                  <a:srgbClr val="FAFAFA"/>
                </a:highlight>
                <a:latin typeface="Courier New"/>
                <a:ea typeface="Courier New"/>
                <a:cs typeface="Courier New"/>
                <a:sym typeface="Courier New"/>
              </a:rPr>
              <a:t>valorActual;</a:t>
            </a:r>
            <a:r>
              <a:rPr lang="es" sz="1200">
                <a:solidFill>
                  <a:srgbClr val="2080AD"/>
                </a:solidFill>
                <a:highlight>
                  <a:srgbClr val="FAFAFA"/>
                </a:highlight>
                <a:latin typeface="Courier New"/>
                <a:ea typeface="Courier New"/>
                <a:cs typeface="Courier New"/>
                <a:sym typeface="Courier New"/>
              </a:rPr>
              <a:t> </a:t>
            </a:r>
            <a:r>
              <a:rPr lang="es" sz="1200">
                <a:solidFill>
                  <a:srgbClr val="434F54"/>
                </a:solidFill>
                <a:highlight>
                  <a:srgbClr val="FAFAFA"/>
                </a:highlight>
                <a:latin typeface="Courier New"/>
                <a:ea typeface="Courier New"/>
                <a:cs typeface="Courier New"/>
                <a:sym typeface="Courier New"/>
              </a:rPr>
              <a:t>//El valor de la variable valorActual es copiado a la variable valorPrevio</a:t>
            </a:r>
            <a:endParaRPr sz="1200">
              <a:solidFill>
                <a:srgbClr val="2080AD"/>
              </a:solidFill>
              <a:highlight>
                <a:srgbClr val="FAFAFA"/>
              </a:highlight>
              <a:latin typeface="Courier New"/>
              <a:ea typeface="Courier New"/>
              <a:cs typeface="Courier New"/>
              <a:sym typeface="Courier New"/>
            </a:endParaRPr>
          </a:p>
          <a:p>
            <a:pPr indent="0" lvl="0" marL="190500" marR="190500" rtl="0" algn="l">
              <a:lnSpc>
                <a:spcPct val="115000"/>
              </a:lnSpc>
              <a:spcBef>
                <a:spcPts val="1500"/>
              </a:spcBef>
              <a:spcAft>
                <a:spcPts val="0"/>
              </a:spcAft>
              <a:buNone/>
            </a:pPr>
            <a:r>
              <a:t/>
            </a:r>
            <a:endParaRPr sz="1200">
              <a:solidFill>
                <a:srgbClr val="2080AD"/>
              </a:solidFill>
              <a:highlight>
                <a:srgbClr val="FAFAFA"/>
              </a:highlight>
              <a:latin typeface="Courier New"/>
              <a:ea typeface="Courier New"/>
              <a:cs typeface="Courier New"/>
              <a:sym typeface="Courier New"/>
            </a:endParaRPr>
          </a:p>
          <a:p>
            <a:pPr indent="0" lvl="0" marL="0" rtl="0" algn="l">
              <a:lnSpc>
                <a:spcPct val="115000"/>
              </a:lnSpc>
              <a:spcBef>
                <a:spcPts val="1500"/>
              </a:spcBef>
              <a:spcAft>
                <a:spcPts val="0"/>
              </a:spcAft>
              <a:buNone/>
            </a:pPr>
            <a:r>
              <a:t/>
            </a:r>
            <a:endParaRPr sz="1100">
              <a:solidFill>
                <a:srgbClr val="434F54"/>
              </a:solidFill>
            </a:endParaRPr>
          </a:p>
        </p:txBody>
      </p:sp>
      <p:sp>
        <p:nvSpPr>
          <p:cNvPr id="479" name="Google Shape;479;p74"/>
          <p:cNvSpPr txBox="1"/>
          <p:nvPr/>
        </p:nvSpPr>
        <p:spPr>
          <a:xfrm>
            <a:off x="0" y="3171775"/>
            <a:ext cx="9144000" cy="19668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s" sz="1350">
                <a:solidFill>
                  <a:srgbClr val="333333"/>
                </a:solidFill>
                <a:highlight>
                  <a:srgbClr val="FFFFFF"/>
                </a:highlight>
              </a:rPr>
              <a:t>¿Qué es el ámbito de una variable?</a:t>
            </a:r>
            <a:endParaRPr b="1" sz="1350">
              <a:solidFill>
                <a:srgbClr val="333333"/>
              </a:solidFill>
              <a:highlight>
                <a:srgbClr val="FFFFFF"/>
              </a:highlight>
            </a:endParaRPr>
          </a:p>
          <a:p>
            <a:pPr indent="0" lvl="0" marL="0" rtl="0" algn="l">
              <a:lnSpc>
                <a:spcPct val="115000"/>
              </a:lnSpc>
              <a:spcBef>
                <a:spcPts val="1500"/>
              </a:spcBef>
              <a:spcAft>
                <a:spcPts val="1500"/>
              </a:spcAft>
              <a:buNone/>
            </a:pPr>
            <a:r>
              <a:rPr lang="es" sz="1250">
                <a:solidFill>
                  <a:srgbClr val="929292"/>
                </a:solidFill>
                <a:highlight>
                  <a:srgbClr val="FFFFFF"/>
                </a:highlight>
              </a:rPr>
              <a:t>El ámbito de una variable las define como globales o locales, las variables globales son las son  definidas antes y fuera de las secciones de void setup(), void loop() u otra función en nuestro sketch. Y las locales son todas las que están definidas dentro de alguna función. Las variables globales reservan un espacio de memoria RAM permanentemente, y las locales lo hacen solo mientras se ejecute la función, liberando el espacio de memoria al terminarse de ejecutar la función. Por esto, las variables globales las podemos modificar desde cualquier punto del sketch, y las locales solo dentro de las funciones dentro de las cuales está declarada.</a:t>
            </a:r>
            <a:endParaRPr sz="1250">
              <a:solidFill>
                <a:srgbClr val="929292"/>
              </a:solidFill>
              <a:highlight>
                <a:srgbClr val="FFFFFF"/>
              </a:highligh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3" name="Shape 483"/>
        <p:cNvGrpSpPr/>
        <p:nvPr/>
      </p:nvGrpSpPr>
      <p:grpSpPr>
        <a:xfrm>
          <a:off x="0" y="0"/>
          <a:ext cx="0" cy="0"/>
          <a:chOff x="0" y="0"/>
          <a:chExt cx="0" cy="0"/>
        </a:xfrm>
      </p:grpSpPr>
      <p:sp>
        <p:nvSpPr>
          <p:cNvPr id="484" name="Google Shape;484;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85" name="Google Shape;485;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486" name="Google Shape;486;p75"/>
          <p:cNvGraphicFramePr/>
          <p:nvPr/>
        </p:nvGraphicFramePr>
        <p:xfrm>
          <a:off x="0" y="0"/>
          <a:ext cx="3000000" cy="3000000"/>
        </p:xfrm>
        <a:graphic>
          <a:graphicData uri="http://schemas.openxmlformats.org/drawingml/2006/table">
            <a:tbl>
              <a:tblPr>
                <a:solidFill>
                  <a:srgbClr val="FFFFFF"/>
                </a:solidFill>
                <a:tableStyleId>{A08F02B9-5CA1-4F53-81AB-5C851557D550}</a:tableStyleId>
              </a:tblPr>
              <a:tblGrid>
                <a:gridCol w="1563350"/>
                <a:gridCol w="1086575"/>
                <a:gridCol w="3636700"/>
                <a:gridCol w="2938175"/>
              </a:tblGrid>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Nombre</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Tamaño</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Rango</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Ejemplo</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boolean</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1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1 o 0</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boolean bitEncendido=0;</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byte</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8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0 a 255</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byte valor=20;</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char</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8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-128 a 127</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char código=′B′;</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int</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16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-32,768 a 32,767</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int val1=30000;</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long</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32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-2,147,483,648 a 2,147,483,647</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long suma=100000;</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float</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32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-3.4028235E+38 a 3.4028235E+38</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float constanteA = 5.235;</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unsigned char</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8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0 a 255</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unsigned char letra1=′A′;</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493525">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unsigned int</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16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0 a 65,535</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unsigned int sensor=50000;</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769300">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unsigned long</a:t>
                      </a:r>
                      <a:endParaRPr sz="10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32 bit</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0 a 4,294,967,295</a:t>
                      </a:r>
                      <a:endParaRPr sz="1050">
                        <a:solidFill>
                          <a:srgbClr val="929292"/>
                        </a:solidFill>
                        <a:highlight>
                          <a:srgbClr val="FFFFFF"/>
                        </a:highlight>
                      </a:endParaRPr>
                    </a:p>
                  </a:txBody>
                  <a:tcPr marT="66675" marB="66675" marR="6667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50">
                          <a:solidFill>
                            <a:srgbClr val="929292"/>
                          </a:solidFill>
                          <a:highlight>
                            <a:srgbClr val="FFFFFF"/>
                          </a:highlight>
                        </a:rPr>
                        <a:t>unsigned long conteo10=1;</a:t>
                      </a:r>
                      <a:endParaRPr sz="1050">
                        <a:solidFill>
                          <a:srgbClr val="929292"/>
                        </a:solidFill>
                        <a:highlight>
                          <a:srgbClr val="FFFFFF"/>
                        </a:highlight>
                      </a:endParaRPr>
                    </a:p>
                    <a:p>
                      <a:pPr indent="0" lvl="0" marL="0" rtl="0" algn="l">
                        <a:lnSpc>
                          <a:spcPct val="115000"/>
                        </a:lnSpc>
                        <a:spcBef>
                          <a:spcPts val="0"/>
                        </a:spcBef>
                        <a:spcAft>
                          <a:spcPts val="0"/>
                        </a:spcAft>
                        <a:buNone/>
                      </a:pPr>
                      <a:r>
                        <a:t/>
                      </a:r>
                      <a:endParaRPr sz="10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0" name="Shape 490"/>
        <p:cNvGrpSpPr/>
        <p:nvPr/>
      </p:nvGrpSpPr>
      <p:grpSpPr>
        <a:xfrm>
          <a:off x="0" y="0"/>
          <a:ext cx="0" cy="0"/>
          <a:chOff x="0" y="0"/>
          <a:chExt cx="0" cy="0"/>
        </a:xfrm>
      </p:grpSpPr>
      <p:sp>
        <p:nvSpPr>
          <p:cNvPr id="491" name="Google Shape;491;p76"/>
          <p:cNvSpPr txBox="1"/>
          <p:nvPr/>
        </p:nvSpPr>
        <p:spPr>
          <a:xfrm>
            <a:off x="514250" y="739888"/>
            <a:ext cx="2558400" cy="29610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s" sz="1500">
                <a:solidFill>
                  <a:srgbClr val="333333"/>
                </a:solidFill>
                <a:highlight>
                  <a:srgbClr val="FFFFFF"/>
                </a:highlight>
              </a:rPr>
              <a:t>Operadores aritméticos</a:t>
            </a:r>
            <a:endParaRPr b="1" sz="1500">
              <a:solidFill>
                <a:srgbClr val="333333"/>
              </a:solidFill>
              <a:highlight>
                <a:srgbClr val="FFFFFF"/>
              </a:highlight>
            </a:endParaRPr>
          </a:p>
          <a:p>
            <a:pPr indent="0" lvl="0" marL="0" rtl="0" algn="l">
              <a:lnSpc>
                <a:spcPct val="115000"/>
              </a:lnSpc>
              <a:spcBef>
                <a:spcPts val="1500"/>
              </a:spcBef>
              <a:spcAft>
                <a:spcPts val="0"/>
              </a:spcAft>
              <a:buNone/>
            </a:pPr>
            <a:r>
              <a:rPr lang="es" sz="1250">
                <a:solidFill>
                  <a:srgbClr val="929292"/>
                </a:solidFill>
                <a:highlight>
                  <a:srgbClr val="FFFFFF"/>
                </a:highlight>
              </a:rPr>
              <a:t>=    	operador de asignación</a:t>
            </a:r>
            <a:endParaRPr sz="1250">
              <a:solidFill>
                <a:srgbClr val="929292"/>
              </a:solidFill>
              <a:highlight>
                <a:srgbClr val="FFFFFF"/>
              </a:highlight>
            </a:endParaRPr>
          </a:p>
          <a:p>
            <a:pPr indent="0" lvl="0" marL="0" rtl="0" algn="l">
              <a:lnSpc>
                <a:spcPct val="115000"/>
              </a:lnSpc>
              <a:spcBef>
                <a:spcPts val="1500"/>
              </a:spcBef>
              <a:spcAft>
                <a:spcPts val="0"/>
              </a:spcAft>
              <a:buNone/>
            </a:pPr>
            <a:r>
              <a:rPr lang="es" sz="1250">
                <a:solidFill>
                  <a:srgbClr val="929292"/>
                </a:solidFill>
                <a:highlight>
                  <a:srgbClr val="FFFFFF"/>
                </a:highlight>
              </a:rPr>
              <a:t>+    	Operador suma</a:t>
            </a:r>
            <a:endParaRPr sz="1250">
              <a:solidFill>
                <a:srgbClr val="929292"/>
              </a:solidFill>
              <a:highlight>
                <a:srgbClr val="FFFFFF"/>
              </a:highlight>
            </a:endParaRPr>
          </a:p>
          <a:p>
            <a:pPr indent="0" lvl="0" marL="0" rtl="0" algn="l">
              <a:lnSpc>
                <a:spcPct val="115000"/>
              </a:lnSpc>
              <a:spcBef>
                <a:spcPts val="1500"/>
              </a:spcBef>
              <a:spcAft>
                <a:spcPts val="0"/>
              </a:spcAft>
              <a:buNone/>
            </a:pPr>
            <a:r>
              <a:rPr lang="es" sz="1250">
                <a:solidFill>
                  <a:srgbClr val="929292"/>
                </a:solidFill>
                <a:highlight>
                  <a:srgbClr val="FFFFFF"/>
                </a:highlight>
              </a:rPr>
              <a:t>–     	Operador resta</a:t>
            </a:r>
            <a:endParaRPr sz="1250">
              <a:solidFill>
                <a:srgbClr val="929292"/>
              </a:solidFill>
              <a:highlight>
                <a:srgbClr val="FFFFFF"/>
              </a:highlight>
            </a:endParaRPr>
          </a:p>
          <a:p>
            <a:pPr indent="0" lvl="0" marL="0" rtl="0" algn="l">
              <a:lnSpc>
                <a:spcPct val="115000"/>
              </a:lnSpc>
              <a:spcBef>
                <a:spcPts val="1500"/>
              </a:spcBef>
              <a:spcAft>
                <a:spcPts val="0"/>
              </a:spcAft>
              <a:buNone/>
            </a:pPr>
            <a:r>
              <a:rPr lang="es" sz="1250">
                <a:solidFill>
                  <a:srgbClr val="929292"/>
                </a:solidFill>
                <a:highlight>
                  <a:srgbClr val="FFFFFF"/>
                </a:highlight>
              </a:rPr>
              <a:t>*     	Operador multiplicación</a:t>
            </a:r>
            <a:endParaRPr sz="1250">
              <a:solidFill>
                <a:srgbClr val="929292"/>
              </a:solidFill>
              <a:highlight>
                <a:srgbClr val="FFFFFF"/>
              </a:highlight>
            </a:endParaRPr>
          </a:p>
          <a:p>
            <a:pPr indent="0" lvl="0" marL="0" rtl="0" algn="l">
              <a:lnSpc>
                <a:spcPct val="115000"/>
              </a:lnSpc>
              <a:spcBef>
                <a:spcPts val="1500"/>
              </a:spcBef>
              <a:spcAft>
                <a:spcPts val="0"/>
              </a:spcAft>
              <a:buNone/>
            </a:pPr>
            <a:r>
              <a:rPr lang="es" sz="1250">
                <a:solidFill>
                  <a:srgbClr val="929292"/>
                </a:solidFill>
                <a:highlight>
                  <a:srgbClr val="FFFFFF"/>
                </a:highlight>
              </a:rPr>
              <a:t>/     	Operador división</a:t>
            </a:r>
            <a:endParaRPr sz="1250">
              <a:solidFill>
                <a:srgbClr val="929292"/>
              </a:solidFill>
              <a:highlight>
                <a:srgbClr val="FFFFFF"/>
              </a:highlight>
            </a:endParaRPr>
          </a:p>
          <a:p>
            <a:pPr indent="0" lvl="0" marL="0" rtl="0" algn="l">
              <a:lnSpc>
                <a:spcPct val="115000"/>
              </a:lnSpc>
              <a:spcBef>
                <a:spcPts val="1500"/>
              </a:spcBef>
              <a:spcAft>
                <a:spcPts val="1500"/>
              </a:spcAft>
              <a:buNone/>
            </a:pPr>
            <a:r>
              <a:rPr lang="es" sz="1250">
                <a:solidFill>
                  <a:srgbClr val="929292"/>
                </a:solidFill>
                <a:highlight>
                  <a:srgbClr val="FFFFFF"/>
                </a:highlight>
              </a:rPr>
              <a:t>%   	Operador módulo</a:t>
            </a:r>
            <a:endParaRPr sz="1250">
              <a:solidFill>
                <a:srgbClr val="929292"/>
              </a:solidFill>
              <a:highlight>
                <a:srgbClr val="FFFFFF"/>
              </a:highlight>
            </a:endParaRPr>
          </a:p>
        </p:txBody>
      </p:sp>
      <p:graphicFrame>
        <p:nvGraphicFramePr>
          <p:cNvPr id="492" name="Google Shape;492;p76"/>
          <p:cNvGraphicFramePr/>
          <p:nvPr/>
        </p:nvGraphicFramePr>
        <p:xfrm>
          <a:off x="3360400" y="943438"/>
          <a:ext cx="3000000" cy="3000000"/>
        </p:xfrm>
        <a:graphic>
          <a:graphicData uri="http://schemas.openxmlformats.org/drawingml/2006/table">
            <a:tbl>
              <a:tblPr>
                <a:solidFill>
                  <a:srgbClr val="FFFFFF"/>
                </a:solidFill>
                <a:tableStyleId>{A08F02B9-5CA1-4F53-81AB-5C851557D550}</a:tableStyleId>
              </a:tblPr>
              <a:tblGrid>
                <a:gridCol w="765950"/>
                <a:gridCol w="4873500"/>
              </a:tblGrid>
              <a:tr h="348500">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Símbolo</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Ejemplo y descripción</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348500">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x++;  // incrementa x en uno y retorna el valor anterior de x</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348500">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x– ;   // decrementa x en uno y retorna el valor anterior de x</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348500">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x += y;   // equivalente a la expresión x = x + y;</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348500">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x -= y;   // equivalent to the expresión x = x – y;</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348500">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x *= y;   // equivalente a la expresión x = x * y;</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348500">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x /= y;   // equivalente a la expresión x = x / y;</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r h="521575">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a:t>
                      </a:r>
                      <a:endParaRPr sz="1250">
                        <a:solidFill>
                          <a:srgbClr val="929292"/>
                        </a:solidFill>
                        <a:highlight>
                          <a:srgbClr val="FFFFFF"/>
                        </a:highlight>
                      </a:endParaRPr>
                    </a:p>
                  </a:txBody>
                  <a:tcPr marT="66675" marB="66675" marR="66675" marL="9142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50">
                          <a:solidFill>
                            <a:srgbClr val="929292"/>
                          </a:solidFill>
                          <a:highlight>
                            <a:srgbClr val="FFFFFF"/>
                          </a:highlight>
                        </a:rPr>
                        <a:t>x %= y;  // equivalente a la expresión x = x % y;</a:t>
                      </a:r>
                      <a:endParaRPr sz="1250">
                        <a:solidFill>
                          <a:srgbClr val="929292"/>
                        </a:solidFill>
                        <a:highlight>
                          <a:srgbClr val="FFFFFF"/>
                        </a:highlight>
                      </a:endParaRPr>
                    </a:p>
                    <a:p>
                      <a:pPr indent="0" lvl="0" marL="0" rtl="0" algn="l">
                        <a:lnSpc>
                          <a:spcPct val="115000"/>
                        </a:lnSpc>
                        <a:spcBef>
                          <a:spcPts val="0"/>
                        </a:spcBef>
                        <a:spcAft>
                          <a:spcPts val="0"/>
                        </a:spcAft>
                        <a:buNone/>
                      </a:pPr>
                      <a:r>
                        <a:t/>
                      </a:r>
                      <a:endParaRPr sz="1250">
                        <a:solidFill>
                          <a:srgbClr val="929292"/>
                        </a:solidFill>
                        <a:highlight>
                          <a:srgbClr val="FFFFFF"/>
                        </a:highlight>
                      </a:endParaRPr>
                    </a:p>
                  </a:txBody>
                  <a:tcPr marT="66675" marB="66675" marR="91425" marL="66675">
                    <a:lnL cap="flat" cmpd="sng" w="9525">
                      <a:solidFill>
                        <a:srgbClr val="929292"/>
                      </a:solidFill>
                      <a:prstDash val="solid"/>
                      <a:round/>
                      <a:headEnd len="sm" w="sm" type="none"/>
                      <a:tailEnd len="sm" w="sm" type="none"/>
                    </a:lnL>
                    <a:lnR cap="flat" cmpd="sng" w="9525">
                      <a:solidFill>
                        <a:srgbClr val="929292"/>
                      </a:solidFill>
                      <a:prstDash val="solid"/>
                      <a:round/>
                      <a:headEnd len="sm" w="sm" type="none"/>
                      <a:tailEnd len="sm" w="sm" type="none"/>
                    </a:lnR>
                    <a:lnT cap="flat" cmpd="sng" w="9525">
                      <a:solidFill>
                        <a:srgbClr val="929292"/>
                      </a:solidFill>
                      <a:prstDash val="solid"/>
                      <a:round/>
                      <a:headEnd len="sm" w="sm" type="none"/>
                      <a:tailEnd len="sm" w="sm" type="none"/>
                    </a:lnT>
                    <a:lnB cap="flat" cmpd="sng" w="9525">
                      <a:solidFill>
                        <a:srgbClr val="929292"/>
                      </a:solidFill>
                      <a:prstDash val="solid"/>
                      <a:round/>
                      <a:headEnd len="sm" w="sm" type="none"/>
                      <a:tailEnd len="sm" w="sm" type="none"/>
                    </a:lnB>
                  </a:tcPr>
                </a:tc>
              </a:tr>
            </a:tbl>
          </a:graphicData>
        </a:graphic>
      </p:graphicFrame>
      <p:sp>
        <p:nvSpPr>
          <p:cNvPr id="493" name="Google Shape;493;p76"/>
          <p:cNvSpPr txBox="1"/>
          <p:nvPr/>
        </p:nvSpPr>
        <p:spPr>
          <a:xfrm>
            <a:off x="3225050" y="458888"/>
            <a:ext cx="6356100" cy="765600"/>
          </a:xfrm>
          <a:prstGeom prst="rect">
            <a:avLst/>
          </a:prstGeom>
          <a:noFill/>
          <a:ln>
            <a:noFill/>
          </a:ln>
        </p:spPr>
        <p:txBody>
          <a:bodyPr anchorCtr="0" anchor="ctr" bIns="91425" lIns="91425" spcFirstLastPara="1" rIns="91425" wrap="square" tIns="91425">
            <a:noAutofit/>
          </a:bodyPr>
          <a:lstStyle/>
          <a:p>
            <a:pPr indent="0" lvl="0" marL="0" rtl="0" algn="l">
              <a:lnSpc>
                <a:spcPct val="140000"/>
              </a:lnSpc>
              <a:spcBef>
                <a:spcPts val="0"/>
              </a:spcBef>
              <a:spcAft>
                <a:spcPts val="1500"/>
              </a:spcAft>
              <a:buNone/>
            </a:pPr>
            <a:r>
              <a:rPr b="1" lang="es" sz="1500">
                <a:solidFill>
                  <a:srgbClr val="333333"/>
                </a:solidFill>
                <a:highlight>
                  <a:srgbClr val="FFFFFF"/>
                </a:highlight>
              </a:rPr>
              <a:t>Operadores compuestos</a:t>
            </a:r>
            <a:endParaRPr sz="1050">
              <a:solidFill>
                <a:srgbClr val="929292"/>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